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56" r:id="rId5"/>
    <p:sldId id="257" r:id="rId6"/>
    <p:sldId id="269" r:id="rId7"/>
    <p:sldId id="258" r:id="rId8"/>
    <p:sldId id="259" r:id="rId9"/>
    <p:sldId id="260" r:id="rId10"/>
    <p:sldId id="261" r:id="rId11"/>
    <p:sldId id="262" r:id="rId12"/>
    <p:sldId id="263" r:id="rId13"/>
    <p:sldId id="264" r:id="rId14"/>
    <p:sldId id="265" r:id="rId15"/>
    <p:sldId id="266" r:id="rId16"/>
    <p:sldId id="267" r:id="rId17"/>
    <p:sldId id="268"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08"/>
  </p:normalViewPr>
  <p:slideViewPr>
    <p:cSldViewPr snapToGrid="0" snapToObjects="1">
      <p:cViewPr varScale="1">
        <p:scale>
          <a:sx n="156" d="100"/>
          <a:sy n="156" d="100"/>
        </p:scale>
        <p:origin x="55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o Panizza (s)" userId="590d740b-7b79-44ad-92d7-3c2f5b18002f" providerId="ADAL" clId="{87B3C06D-7148-5347-AFD1-92E078BC900D}"/>
    <pc:docChg chg="modSld">
      <pc:chgData name="Roberto Panizza (s)" userId="590d740b-7b79-44ad-92d7-3c2f5b18002f" providerId="ADAL" clId="{87B3C06D-7148-5347-AFD1-92E078BC900D}" dt="2026-04-14T12:16:58.987" v="13" actId="113"/>
      <pc:docMkLst>
        <pc:docMk/>
      </pc:docMkLst>
      <pc:sldChg chg="modSp mod">
        <pc:chgData name="Roberto Panizza (s)" userId="590d740b-7b79-44ad-92d7-3c2f5b18002f" providerId="ADAL" clId="{87B3C06D-7148-5347-AFD1-92E078BC900D}" dt="2026-04-14T12:16:00.256" v="10" actId="14100"/>
        <pc:sldMkLst>
          <pc:docMk/>
          <pc:sldMk cId="0" sldId="258"/>
        </pc:sldMkLst>
        <pc:spChg chg="mod">
          <ac:chgData name="Roberto Panizza (s)" userId="590d740b-7b79-44ad-92d7-3c2f5b18002f" providerId="ADAL" clId="{87B3C06D-7148-5347-AFD1-92E078BC900D}" dt="2026-04-14T12:15:17.006" v="0" actId="207"/>
          <ac:spMkLst>
            <pc:docMk/>
            <pc:sldMk cId="0" sldId="258"/>
            <ac:spMk id="4" creationId="{00000000-0000-0000-0000-000000000000}"/>
          </ac:spMkLst>
        </pc:spChg>
        <pc:spChg chg="mod">
          <ac:chgData name="Roberto Panizza (s)" userId="590d740b-7b79-44ad-92d7-3c2f5b18002f" providerId="ADAL" clId="{87B3C06D-7148-5347-AFD1-92E078BC900D}" dt="2026-04-14T12:15:57.873" v="9" actId="1076"/>
          <ac:spMkLst>
            <pc:docMk/>
            <pc:sldMk cId="0" sldId="258"/>
            <ac:spMk id="5" creationId="{00000000-0000-0000-0000-000000000000}"/>
          </ac:spMkLst>
        </pc:spChg>
        <pc:spChg chg="mod">
          <ac:chgData name="Roberto Panizza (s)" userId="590d740b-7b79-44ad-92d7-3c2f5b18002f" providerId="ADAL" clId="{87B3C06D-7148-5347-AFD1-92E078BC900D}" dt="2026-04-14T12:16:00.256" v="10" actId="14100"/>
          <ac:spMkLst>
            <pc:docMk/>
            <pc:sldMk cId="0" sldId="258"/>
            <ac:spMk id="6" creationId="{00000000-0000-0000-0000-000000000000}"/>
          </ac:spMkLst>
        </pc:spChg>
      </pc:sldChg>
      <pc:sldChg chg="modSp mod">
        <pc:chgData name="Roberto Panizza (s)" userId="590d740b-7b79-44ad-92d7-3c2f5b18002f" providerId="ADAL" clId="{87B3C06D-7148-5347-AFD1-92E078BC900D}" dt="2026-04-14T12:16:58.987" v="13" actId="113"/>
        <pc:sldMkLst>
          <pc:docMk/>
          <pc:sldMk cId="0" sldId="265"/>
        </pc:sldMkLst>
        <pc:spChg chg="mod">
          <ac:chgData name="Roberto Panizza (s)" userId="590d740b-7b79-44ad-92d7-3c2f5b18002f" providerId="ADAL" clId="{87B3C06D-7148-5347-AFD1-92E078BC900D}" dt="2026-04-14T12:16:58.987" v="13" actId="113"/>
          <ac:spMkLst>
            <pc:docMk/>
            <pc:sldMk cId="0" sldId="265"/>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9287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Hallo zusammen. Wir sind Roberto und Loris, Gruppe 4. Unser Case 3 dreht sich um Enterprise Messaging – also asynchrone, nachrichtenbasierte Kommunikation in verteilten Systemen.</a:t>
            </a:r>
            <a:br>
              <a:rPr lang="de-CH" sz="1200" b="0" i="0" kern="1200" dirty="0">
                <a:solidFill>
                  <a:schemeClr val="tx1"/>
                </a:solidFill>
                <a:effectLst/>
                <a:latin typeface="+mn-lt"/>
                <a:ea typeface="+mn-ea"/>
                <a:cs typeface="+mn-cs"/>
              </a:rPr>
            </a:br>
            <a:br>
              <a:rPr lang="de-CH" sz="1200" b="0" i="0" kern="1200" dirty="0">
                <a:solidFill>
                  <a:schemeClr val="tx1"/>
                </a:solidFill>
                <a:effectLst/>
                <a:latin typeface="+mn-lt"/>
                <a:ea typeface="+mn-ea"/>
                <a:cs typeface="+mn-cs"/>
              </a:rPr>
            </a:br>
            <a:r>
              <a:rPr lang="de-CH" sz="1200" b="1" i="0" kern="1200" dirty="0">
                <a:solidFill>
                  <a:schemeClr val="tx1"/>
                </a:solidFill>
                <a:effectLst/>
                <a:latin typeface="+mn-lt"/>
                <a:ea typeface="+mn-ea"/>
                <a:cs typeface="+mn-cs"/>
              </a:rPr>
              <a:t>Sprecheraufteilung (angepasst an Folien)</a:t>
            </a:r>
          </a:p>
          <a:p>
            <a:r>
              <a:rPr lang="de-CH" sz="1200" b="0" i="0" kern="1200" dirty="0">
                <a:solidFill>
                  <a:schemeClr val="tx1"/>
                </a:solidFill>
                <a:effectLst/>
                <a:latin typeface="+mn-lt"/>
                <a:ea typeface="+mn-ea"/>
                <a:cs typeface="+mn-cs"/>
              </a:rPr>
              <a:t>SprecherFolienDauer</a:t>
            </a:r>
            <a:r>
              <a:rPr lang="de-CH" sz="1200" b="1" i="0" kern="1200" dirty="0">
                <a:solidFill>
                  <a:schemeClr val="tx1"/>
                </a:solidFill>
                <a:effectLst/>
                <a:latin typeface="+mn-lt"/>
                <a:ea typeface="+mn-ea"/>
                <a:cs typeface="+mn-cs"/>
              </a:rPr>
              <a:t>Roberto</a:t>
            </a:r>
            <a:r>
              <a:rPr lang="de-CH" sz="1200" b="0" i="0" kern="1200" dirty="0">
                <a:solidFill>
                  <a:schemeClr val="tx1"/>
                </a:solidFill>
                <a:effectLst/>
                <a:latin typeface="+mn-lt"/>
                <a:ea typeface="+mn-ea"/>
                <a:cs typeface="+mn-cs"/>
              </a:rPr>
              <a:t>1, 2, 3, 4, 5, 6, 7, 12, 13~11:30</a:t>
            </a:r>
            <a:r>
              <a:rPr lang="de-CH" sz="1200" b="1" i="0" kern="1200" dirty="0">
                <a:solidFill>
                  <a:schemeClr val="tx1"/>
                </a:solidFill>
                <a:effectLst/>
                <a:latin typeface="+mn-lt"/>
                <a:ea typeface="+mn-ea"/>
                <a:cs typeface="+mn-cs"/>
              </a:rPr>
              <a:t>Loris</a:t>
            </a:r>
            <a:r>
              <a:rPr lang="de-CH" sz="1200" b="0" i="0" kern="1200" dirty="0">
                <a:solidFill>
                  <a:schemeClr val="tx1"/>
                </a:solidFill>
                <a:effectLst/>
                <a:latin typeface="+mn-lt"/>
                <a:ea typeface="+mn-ea"/>
                <a:cs typeface="+mn-cs"/>
              </a:rPr>
              <a:t>8, 9, 10, 11 + Demo~8:30</a:t>
            </a:r>
          </a:p>
          <a:p>
            <a:r>
              <a:rPr lang="de-CH" sz="1200" b="0" i="0" kern="1200" dirty="0">
                <a:solidFill>
                  <a:schemeClr val="tx1"/>
                </a:solidFill>
                <a:effectLst/>
                <a:latin typeface="+mn-lt"/>
                <a:ea typeface="+mn-ea"/>
                <a:cs typeface="+mn-cs"/>
              </a:rPr>
              <a:t>Übergabe Roberto → Loris: Nach Folie 7 (Architekturdiagramm) Übergabe Loris → Roberto: Nach der Demo, vor Folie 12</a:t>
            </a:r>
          </a:p>
          <a:p>
            <a:br>
              <a:rPr lang="de-CH" dirty="0"/>
            </a:br>
            <a:endParaRPr lang="de-CH" dirty="0"/>
          </a:p>
          <a:p>
            <a:r>
              <a:rPr lang="de-CH" sz="1200" b="1" i="0" kern="1200" dirty="0">
                <a:solidFill>
                  <a:schemeClr val="tx1"/>
                </a:solidFill>
                <a:effectLst/>
                <a:latin typeface="+mn-lt"/>
                <a:ea typeface="+mn-ea"/>
                <a:cs typeface="+mn-cs"/>
              </a:rPr>
              <a:t>Vor dem Call vorbereiten</a:t>
            </a:r>
          </a:p>
          <a:p>
            <a:r>
              <a:rPr lang="de-CH" sz="1200" b="0" i="0" kern="1200" dirty="0">
                <a:solidFill>
                  <a:schemeClr val="tx1"/>
                </a:solidFill>
                <a:effectLst/>
                <a:latin typeface="+mn-lt"/>
                <a:ea typeface="+mn-ea"/>
                <a:cs typeface="+mn-cs"/>
              </a:rPr>
              <a:t>PPTX auf dem Präsentationsrechner öffnen und durchklicken</a:t>
            </a:r>
          </a:p>
          <a:p>
            <a:r>
              <a:rPr lang="de-CH" sz="1200" b="0" i="0" kern="1200" dirty="0">
                <a:solidFill>
                  <a:schemeClr val="tx1"/>
                </a:solidFill>
                <a:effectLst/>
                <a:latin typeface="+mn-lt"/>
                <a:ea typeface="+mn-ea"/>
                <a:cs typeface="+mn-cs"/>
              </a:rPr>
              <a:t>VPN/Netzwerk: Broker </a:t>
            </a:r>
            <a:r>
              <a:rPr lang="de-CH" sz="1200" b="0" i="0" kern="1200" dirty="0" err="1">
                <a:solidFill>
                  <a:schemeClr val="tx1"/>
                </a:solidFill>
                <a:effectLst/>
                <a:latin typeface="+mn-lt"/>
                <a:ea typeface="+mn-ea"/>
                <a:cs typeface="+mn-cs"/>
              </a:rPr>
              <a:t>tcp</a:t>
            </a:r>
            <a:r>
              <a:rPr lang="de-CH" sz="1200" b="0" i="0" kern="1200" dirty="0">
                <a:solidFill>
                  <a:schemeClr val="tx1"/>
                </a:solidFill>
                <a:effectLst/>
                <a:latin typeface="+mn-lt"/>
                <a:ea typeface="+mn-ea"/>
                <a:cs typeface="+mn-cs"/>
              </a:rPr>
              <a:t>://192.168.111.6:61616 erreichbar?</a:t>
            </a:r>
          </a:p>
          <a:p>
            <a:r>
              <a:rPr lang="de-CH" sz="1200" b="0" i="0" kern="1200" dirty="0">
                <a:solidFill>
                  <a:schemeClr val="tx1"/>
                </a:solidFill>
                <a:effectLst/>
                <a:latin typeface="+mn-lt"/>
                <a:ea typeface="+mn-ea"/>
                <a:cs typeface="+mn-cs"/>
              </a:rPr>
              <a:t>Maven-</a:t>
            </a:r>
            <a:r>
              <a:rPr lang="de-CH" sz="1200" b="0" i="0" kern="1200" dirty="0" err="1">
                <a:solidFill>
                  <a:schemeClr val="tx1"/>
                </a:solidFill>
                <a:effectLst/>
                <a:latin typeface="+mn-lt"/>
                <a:ea typeface="+mn-ea"/>
                <a:cs typeface="+mn-cs"/>
              </a:rPr>
              <a:t>Build</a:t>
            </a:r>
            <a:r>
              <a:rPr lang="de-CH" sz="1200" b="0" i="0" kern="1200" dirty="0">
                <a:solidFill>
                  <a:schemeClr val="tx1"/>
                </a:solidFill>
                <a:effectLst/>
                <a:latin typeface="+mn-lt"/>
                <a:ea typeface="+mn-ea"/>
                <a:cs typeface="+mn-cs"/>
              </a:rPr>
              <a:t> vorab: cd Case3_ClientApp &amp;&amp; </a:t>
            </a:r>
            <a:r>
              <a:rPr lang="de-CH" sz="1200" b="0" i="0" kern="1200" dirty="0" err="1">
                <a:solidFill>
                  <a:schemeClr val="tx1"/>
                </a:solidFill>
                <a:effectLst/>
                <a:latin typeface="+mn-lt"/>
                <a:ea typeface="+mn-ea"/>
                <a:cs typeface="+mn-cs"/>
              </a:rPr>
              <a:t>mvn</a:t>
            </a:r>
            <a:r>
              <a:rPr lang="de-CH" sz="1200" b="0" i="0" kern="1200" dirty="0">
                <a:solidFill>
                  <a:schemeClr val="tx1"/>
                </a:solidFill>
                <a:effectLst/>
                <a:latin typeface="+mn-lt"/>
                <a:ea typeface="+mn-ea"/>
                <a:cs typeface="+mn-cs"/>
              </a:rPr>
              <a:t> clean </a:t>
            </a:r>
            <a:r>
              <a:rPr lang="de-CH" sz="1200" b="0" i="0" kern="1200" dirty="0" err="1">
                <a:solidFill>
                  <a:schemeClr val="tx1"/>
                </a:solidFill>
                <a:effectLst/>
                <a:latin typeface="+mn-lt"/>
                <a:ea typeface="+mn-ea"/>
                <a:cs typeface="+mn-cs"/>
              </a:rPr>
              <a:t>compile</a:t>
            </a:r>
            <a:endParaRPr lang="de-CH" sz="1200" b="0" i="0" kern="1200" dirty="0">
              <a:solidFill>
                <a:schemeClr val="tx1"/>
              </a:solidFill>
              <a:effectLst/>
              <a:latin typeface="+mn-lt"/>
              <a:ea typeface="+mn-ea"/>
              <a:cs typeface="+mn-cs"/>
            </a:endParaRPr>
          </a:p>
          <a:p>
            <a:r>
              <a:rPr lang="de-CH" sz="1200" b="0" i="0" kern="1200" dirty="0">
                <a:solidFill>
                  <a:schemeClr val="tx1"/>
                </a:solidFill>
                <a:effectLst/>
                <a:latin typeface="+mn-lt"/>
                <a:ea typeface="+mn-ea"/>
                <a:cs typeface="+mn-cs"/>
              </a:rPr>
              <a:t>Einmal komplett durchspielen (App starten → Job empfangen → anfordern → Zuweisung)</a:t>
            </a:r>
          </a:p>
          <a:p>
            <a:r>
              <a:rPr lang="de-CH" sz="1200" b="0" i="0" kern="1200" dirty="0">
                <a:solidFill>
                  <a:schemeClr val="tx1"/>
                </a:solidFill>
                <a:effectLst/>
                <a:latin typeface="+mn-lt"/>
                <a:ea typeface="+mn-ea"/>
                <a:cs typeface="+mn-cs"/>
              </a:rPr>
              <a:t>Screenshots der Demo als Backup sichern</a:t>
            </a:r>
          </a:p>
          <a:p>
            <a:r>
              <a:rPr lang="de-CH" sz="1200" b="0" i="0" kern="1200" dirty="0">
                <a:solidFill>
                  <a:schemeClr val="tx1"/>
                </a:solidFill>
                <a:effectLst/>
                <a:latin typeface="+mn-lt"/>
                <a:ea typeface="+mn-ea"/>
                <a:cs typeface="+mn-cs"/>
              </a:rPr>
              <a:t>In der IDE </a:t>
            </a:r>
            <a:r>
              <a:rPr lang="de-CH" sz="1200" b="0" i="0" kern="1200" dirty="0" err="1">
                <a:solidFill>
                  <a:schemeClr val="tx1"/>
                </a:solidFill>
                <a:effectLst/>
                <a:latin typeface="+mn-lt"/>
                <a:ea typeface="+mn-ea"/>
                <a:cs typeface="+mn-cs"/>
              </a:rPr>
              <a:t>MessageReceiver.java</a:t>
            </a:r>
            <a:r>
              <a:rPr lang="de-CH" sz="1200" b="0" i="0" kern="1200" dirty="0">
                <a:solidFill>
                  <a:schemeClr val="tx1"/>
                </a:solidFill>
                <a:effectLst/>
                <a:latin typeface="+mn-lt"/>
                <a:ea typeface="+mn-ea"/>
                <a:cs typeface="+mn-cs"/>
              </a:rPr>
              <a:t> und </a:t>
            </a:r>
            <a:r>
              <a:rPr lang="de-CH" sz="1200" b="0" i="0" kern="1200" dirty="0" err="1">
                <a:solidFill>
                  <a:schemeClr val="tx1"/>
                </a:solidFill>
                <a:effectLst/>
                <a:latin typeface="+mn-lt"/>
                <a:ea typeface="+mn-ea"/>
                <a:cs typeface="+mn-cs"/>
              </a:rPr>
              <a:t>MessageSender.java</a:t>
            </a:r>
            <a:r>
              <a:rPr lang="de-CH" sz="1200" b="0" i="0" kern="1200" dirty="0">
                <a:solidFill>
                  <a:schemeClr val="tx1"/>
                </a:solidFill>
                <a:effectLst/>
                <a:latin typeface="+mn-lt"/>
                <a:ea typeface="+mn-ea"/>
                <a:cs typeface="+mn-cs"/>
              </a:rPr>
              <a:t> vorab öffnen (falls jemand im Code zeigen will)</a:t>
            </a:r>
          </a:p>
          <a:p>
            <a:r>
              <a:rPr lang="de-CH" sz="1200" b="0" i="0" kern="1200" dirty="0">
                <a:solidFill>
                  <a:schemeClr val="tx1"/>
                </a:solidFill>
                <a:effectLst/>
                <a:latin typeface="+mn-lt"/>
                <a:ea typeface="+mn-ea"/>
                <a:cs typeface="+mn-cs"/>
              </a:rPr>
              <a:t>Teams-Bildschirmfreigabe testen: PowerPoint-Modus (nicht gesamter Desktop)</a:t>
            </a:r>
          </a:p>
          <a:p>
            <a:r>
              <a:rPr lang="de-CH" sz="1200" b="1" i="0" kern="1200" dirty="0">
                <a:solidFill>
                  <a:schemeClr val="tx1"/>
                </a:solidFill>
                <a:effectLst/>
                <a:latin typeface="+mn-lt"/>
                <a:ea typeface="+mn-ea"/>
                <a:cs typeface="+mn-cs"/>
              </a:rPr>
              <a:t>Während der Präsentation</a:t>
            </a:r>
          </a:p>
          <a:p>
            <a:r>
              <a:rPr lang="de-CH" sz="1200" b="0" i="0" kern="1200" dirty="0">
                <a:solidFill>
                  <a:schemeClr val="tx1"/>
                </a:solidFill>
                <a:effectLst/>
                <a:latin typeface="+mn-lt"/>
                <a:ea typeface="+mn-ea"/>
                <a:cs typeface="+mn-cs"/>
              </a:rPr>
              <a:t>ReihenfolgeAktionWer1PowerPoint starten, Folie 1–7 durchklickenRoberto2Weiter auf Folie 8–11Loris3Bildschirm wechseln → Terminal → </a:t>
            </a:r>
            <a:r>
              <a:rPr lang="de-CH" sz="1200" b="0" i="0" kern="1200" dirty="0" err="1">
                <a:solidFill>
                  <a:schemeClr val="tx1"/>
                </a:solidFill>
                <a:effectLst/>
                <a:latin typeface="+mn-lt"/>
                <a:ea typeface="+mn-ea"/>
                <a:cs typeface="+mn-cs"/>
              </a:rPr>
              <a:t>mvn</a:t>
            </a:r>
            <a:r>
              <a:rPr lang="de-CH" sz="1200" b="0" i="0" kern="1200" dirty="0">
                <a:solidFill>
                  <a:schemeClr val="tx1"/>
                </a:solidFill>
                <a:effectLst/>
                <a:latin typeface="+mn-lt"/>
                <a:ea typeface="+mn-ea"/>
                <a:cs typeface="+mn-cs"/>
              </a:rPr>
              <a:t> spring-boot:runLoris4Demo in Swing-GUI durchspielenLoris5Zurück zu PowerPoint → Folie 12–13Roberto</a:t>
            </a:r>
          </a:p>
          <a:p>
            <a:br>
              <a:rPr lang="de-CH"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Kurz zu unserem Ablauf: Wir starten mit der Problemstellung, erklären die zentralen Konzepte, zeigen unsere Architektur und die Enterprise Integration Patterns, gehen durch die Code-Umsetzung und schliessen mit einer Live-Demo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Das Szenario: Ein Unternehmen hat ein Callcenter, das Serviceaufträge entgegennimmt. Diese Aufträge müssen an mobile Aussendienstmitarbeiter verteilt werden, die draussen beim Kunden arbeiten.</a:t>
            </a:r>
          </a:p>
          <a:p>
            <a:r>
              <a:rPr lang="de-CH" sz="1200" b="0" i="0" kern="1200" dirty="0">
                <a:solidFill>
                  <a:schemeClr val="tx1"/>
                </a:solidFill>
                <a:effectLst/>
                <a:latin typeface="+mn-lt"/>
                <a:ea typeface="+mn-ea"/>
                <a:cs typeface="+mn-cs"/>
              </a:rPr>
              <a:t>Rechts seht ihr die Herausforderung: Die Techniker sind nicht immer online. Sie stehen vielleicht gerade im Keller ohne Empfang. Trotzdem müssen die Aufträge ankommen, sobald sie wieder erreichbar sind. Ausserdem kann es sein, dass mehrere denselben Job wollen – das muss korrekt gehandhabt werden. Und es ist eine 1:n-Kommunikation nötig: Ein Auftrag soll an alle gehen, nicht nur an einen.</a:t>
            </a:r>
          </a:p>
          <a:p>
            <a:r>
              <a:rPr lang="de-CH" sz="1200" b="0" i="0" kern="1200" dirty="0">
                <a:solidFill>
                  <a:schemeClr val="tx1"/>
                </a:solidFill>
                <a:effectLst/>
                <a:latin typeface="+mn-lt"/>
                <a:ea typeface="+mn-ea"/>
                <a:cs typeface="+mn-cs"/>
              </a:rPr>
              <a:t>Die Schlussfolgerung unten: Ein klassischer synchroner Ansatz wie RPC funktioniert hier nicht. Wir brauchen asynchrones Messaging.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Deshalb hier der Vergleich. Links RPC – synchron: Der Client ruft eine Funktion auf und blockiert, bis die Antwort kommt. Der Empfänger muss online sein. Das ist nur 1:1 und eng gekoppelt. Für mobile Mitarbeiter mit instabilen Verbindungen völlig ungeeignet.</a:t>
            </a:r>
          </a:p>
          <a:p>
            <a:r>
              <a:rPr lang="de-CH" sz="1200" b="0" i="0" kern="1200" dirty="0">
                <a:solidFill>
                  <a:schemeClr val="tx1"/>
                </a:solidFill>
                <a:effectLst/>
                <a:latin typeface="+mn-lt"/>
                <a:ea typeface="+mn-ea"/>
                <a:cs typeface="+mn-cs"/>
              </a:rPr>
              <a:t>Rechts MOM – asynchron: Der Sender feuert die Nachricht ab und arbeitet weiter. Der Empfänger kann offline sein, die Nachricht wird gepuffert. Es geht 1:1 und 1:n. Lose Kopplung über einen Message Broker.</a:t>
            </a:r>
          </a:p>
          <a:p>
            <a:r>
              <a:rPr lang="de-CH" sz="1200" b="0" i="0" kern="1200" dirty="0">
                <a:solidFill>
                  <a:schemeClr val="tx1"/>
                </a:solidFill>
                <a:effectLst/>
                <a:latin typeface="+mn-lt"/>
                <a:ea typeface="+mn-ea"/>
                <a:cs typeface="+mn-cs"/>
              </a:rPr>
              <a:t>Unten der Hinweis: Unser Message Broker ist Apache </a:t>
            </a:r>
            <a:r>
              <a:rPr lang="de-CH" sz="1200" b="0" i="0" kern="1200" dirty="0" err="1">
                <a:solidFill>
                  <a:schemeClr val="tx1"/>
                </a:solidFill>
                <a:effectLst/>
                <a:latin typeface="+mn-lt"/>
                <a:ea typeface="+mn-ea"/>
                <a:cs typeface="+mn-cs"/>
              </a:rPr>
              <a:t>ActiveMQ</a:t>
            </a:r>
            <a:r>
              <a:rPr lang="de-CH" sz="1200" b="0" i="0" kern="1200" dirty="0">
                <a:solidFill>
                  <a:schemeClr val="tx1"/>
                </a:solidFill>
                <a:effectLst/>
                <a:latin typeface="+mn-lt"/>
                <a:ea typeface="+mn-ea"/>
                <a:cs typeface="+mn-cs"/>
              </a:rPr>
              <a:t> – er nimmt Nachrichten entgegen, speichert sie und leitet sie weiter. Wie ein Postamt</a:t>
            </a:r>
            <a:r>
              <a:rPr lang="en-US" sz="1200" b="0" i="0" kern="1200" dirty="0">
                <a:solidFill>
                  <a:schemeClr val="tx1"/>
                </a:solidFill>
                <a:effectLst/>
                <a:latin typeface="+mn-lt"/>
                <a:ea typeface="+mn-ea"/>
                <a:cs typeface="+mn-cs"/>
              </a:rPr>
              <a:t>.</a:t>
            </a:r>
            <a:endParaRPr lang="de-CH"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Die zentrale Unterscheidung: Links die Queue – Point-</a:t>
            </a:r>
            <a:r>
              <a:rPr lang="de-CH" sz="1200" b="0" i="0" kern="1200" dirty="0" err="1">
                <a:solidFill>
                  <a:schemeClr val="tx1"/>
                </a:solidFill>
                <a:effectLst/>
                <a:latin typeface="+mn-lt"/>
                <a:ea typeface="+mn-ea"/>
                <a:cs typeface="+mn-cs"/>
              </a:rPr>
              <a:t>to</a:t>
            </a:r>
            <a:r>
              <a:rPr lang="de-CH" sz="1200" b="0" i="0" kern="1200" dirty="0">
                <a:solidFill>
                  <a:schemeClr val="tx1"/>
                </a:solidFill>
                <a:effectLst/>
                <a:latin typeface="+mn-lt"/>
                <a:ea typeface="+mn-ea"/>
                <a:cs typeface="+mn-cs"/>
              </a:rPr>
              <a:t>-Point. Jede Nachricht wird von genau einem Consumer verarbeitet. Wie ein Briefkasten: Einer holt den Brief ab. In unserem Case ist das die Queue </a:t>
            </a:r>
            <a:r>
              <a:rPr lang="de-CH" sz="1200" b="0" i="0" kern="1200" dirty="0" err="1">
                <a:solidFill>
                  <a:schemeClr val="tx1"/>
                </a:solidFill>
                <a:effectLst/>
                <a:latin typeface="+mn-lt"/>
                <a:ea typeface="+mn-ea"/>
                <a:cs typeface="+mn-cs"/>
              </a:rPr>
              <a:t>dispo.jobs.requestAssignment</a:t>
            </a:r>
            <a:r>
              <a:rPr lang="de-CH" sz="1200" b="0" i="0" kern="1200" dirty="0">
                <a:solidFill>
                  <a:schemeClr val="tx1"/>
                </a:solidFill>
                <a:effectLst/>
                <a:latin typeface="+mn-lt"/>
                <a:ea typeface="+mn-ea"/>
                <a:cs typeface="+mn-cs"/>
              </a:rPr>
              <a:t>, über die Mitarbeiter einen Job anfordern.</a:t>
            </a:r>
          </a:p>
          <a:p>
            <a:r>
              <a:rPr lang="de-CH" sz="1200" b="0" i="0" kern="1200" dirty="0">
                <a:solidFill>
                  <a:schemeClr val="tx1"/>
                </a:solidFill>
                <a:effectLst/>
                <a:latin typeface="+mn-lt"/>
                <a:ea typeface="+mn-ea"/>
                <a:cs typeface="+mn-cs"/>
              </a:rPr>
              <a:t>Rechts das Topic – Publish-</a:t>
            </a:r>
            <a:r>
              <a:rPr lang="de-CH" sz="1200" b="0" i="0" kern="1200" dirty="0" err="1">
                <a:solidFill>
                  <a:schemeClr val="tx1"/>
                </a:solidFill>
                <a:effectLst/>
                <a:latin typeface="+mn-lt"/>
                <a:ea typeface="+mn-ea"/>
                <a:cs typeface="+mn-cs"/>
              </a:rPr>
              <a:t>Subscribe</a:t>
            </a:r>
            <a:r>
              <a:rPr lang="de-CH" sz="1200" b="0" i="0" kern="1200" dirty="0">
                <a:solidFill>
                  <a:schemeClr val="tx1"/>
                </a:solidFill>
                <a:effectLst/>
                <a:latin typeface="+mn-lt"/>
                <a:ea typeface="+mn-ea"/>
                <a:cs typeface="+mn-cs"/>
              </a:rPr>
              <a:t>. Jede Nachricht geht an alle Subscriber. Wie ein Aushang am schwarzen Brett. In unserem Case: </a:t>
            </a:r>
            <a:r>
              <a:rPr lang="de-CH" sz="1200" b="0" i="0" kern="1200" dirty="0" err="1">
                <a:solidFill>
                  <a:schemeClr val="tx1"/>
                </a:solidFill>
                <a:effectLst/>
                <a:latin typeface="+mn-lt"/>
                <a:ea typeface="+mn-ea"/>
                <a:cs typeface="+mn-cs"/>
              </a:rPr>
              <a:t>dispo.jobs.new</a:t>
            </a:r>
            <a:r>
              <a:rPr lang="de-CH" sz="1200" b="0" i="0" kern="1200" dirty="0">
                <a:solidFill>
                  <a:schemeClr val="tx1"/>
                </a:solidFill>
                <a:effectLst/>
                <a:latin typeface="+mn-lt"/>
                <a:ea typeface="+mn-ea"/>
                <a:cs typeface="+mn-cs"/>
              </a:rPr>
              <a:t> für neue Aufträge und </a:t>
            </a:r>
            <a:r>
              <a:rPr lang="de-CH" sz="1200" b="0" i="0" kern="1200" dirty="0" err="1">
                <a:solidFill>
                  <a:schemeClr val="tx1"/>
                </a:solidFill>
                <a:effectLst/>
                <a:latin typeface="+mn-lt"/>
                <a:ea typeface="+mn-ea"/>
                <a:cs typeface="+mn-cs"/>
              </a:rPr>
              <a:t>dispo.jobs.assignments</a:t>
            </a:r>
            <a:r>
              <a:rPr lang="de-CH" sz="1200" b="0" i="0" kern="1200" dirty="0">
                <a:solidFill>
                  <a:schemeClr val="tx1"/>
                </a:solidFill>
                <a:effectLst/>
                <a:latin typeface="+mn-lt"/>
                <a:ea typeface="+mn-ea"/>
                <a:cs typeface="+mn-cs"/>
              </a:rPr>
              <a:t> für Zuweisungen.</a:t>
            </a:r>
          </a:p>
          <a:p>
            <a:r>
              <a:rPr lang="de-CH" sz="1200" b="0" i="0" kern="1200" dirty="0">
                <a:solidFill>
                  <a:schemeClr val="tx1"/>
                </a:solidFill>
                <a:effectLst/>
                <a:latin typeface="+mn-lt"/>
                <a:ea typeface="+mn-ea"/>
                <a:cs typeface="+mn-cs"/>
              </a:rPr>
              <a:t>Unten wichtig: Der Durable Subscriber. Ein Client, der kurz offline war, bekommt verpasste Nachrichten nachgeliefert. Das ist essentiell für mobile Mitarbeiter.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Wir haben die für unseren Case relevanten Enterprise Integration Patterns identifiziert. In der Tabelle seht ihr: Publish-</a:t>
            </a:r>
            <a:r>
              <a:rPr lang="de-CH" sz="1200" b="0" i="0" kern="1200" dirty="0" err="1">
                <a:solidFill>
                  <a:schemeClr val="tx1"/>
                </a:solidFill>
                <a:effectLst/>
                <a:latin typeface="+mn-lt"/>
                <a:ea typeface="+mn-ea"/>
                <a:cs typeface="+mn-cs"/>
              </a:rPr>
              <a:t>Subscribe</a:t>
            </a:r>
            <a:r>
              <a:rPr lang="de-CH" sz="1200" b="0" i="0" kern="1200" dirty="0">
                <a:solidFill>
                  <a:schemeClr val="tx1"/>
                </a:solidFill>
                <a:effectLst/>
                <a:latin typeface="+mn-lt"/>
                <a:ea typeface="+mn-ea"/>
                <a:cs typeface="+mn-cs"/>
              </a:rPr>
              <a:t> für die Verteilung neuer Jobs und Zuweisungen. Point-</a:t>
            </a:r>
            <a:r>
              <a:rPr lang="de-CH" sz="1200" b="0" i="0" kern="1200" dirty="0" err="1">
                <a:solidFill>
                  <a:schemeClr val="tx1"/>
                </a:solidFill>
                <a:effectLst/>
                <a:latin typeface="+mn-lt"/>
                <a:ea typeface="+mn-ea"/>
                <a:cs typeface="+mn-cs"/>
              </a:rPr>
              <a:t>to</a:t>
            </a:r>
            <a:r>
              <a:rPr lang="de-CH" sz="1200" b="0" i="0" kern="1200" dirty="0">
                <a:solidFill>
                  <a:schemeClr val="tx1"/>
                </a:solidFill>
                <a:effectLst/>
                <a:latin typeface="+mn-lt"/>
                <a:ea typeface="+mn-ea"/>
                <a:cs typeface="+mn-cs"/>
              </a:rPr>
              <a:t>-Point für die Anforderung. Content-</a:t>
            </a:r>
            <a:r>
              <a:rPr lang="de-CH" sz="1200" b="0" i="0" kern="1200" dirty="0" err="1">
                <a:solidFill>
                  <a:schemeClr val="tx1"/>
                </a:solidFill>
                <a:effectLst/>
                <a:latin typeface="+mn-lt"/>
                <a:ea typeface="+mn-ea"/>
                <a:cs typeface="+mn-cs"/>
              </a:rPr>
              <a:t>Based</a:t>
            </a:r>
            <a:r>
              <a:rPr lang="de-CH" sz="1200" b="0" i="0" kern="1200" dirty="0">
                <a:solidFill>
                  <a:schemeClr val="tx1"/>
                </a:solidFill>
                <a:effectLst/>
                <a:latin typeface="+mn-lt"/>
                <a:ea typeface="+mn-ea"/>
                <a:cs typeface="+mn-cs"/>
              </a:rPr>
              <a:t> Router in der Disposition, der nach Auftragstyp routet – Wartung geht </a:t>
            </a:r>
            <a:r>
              <a:rPr lang="de-CH" sz="1200" b="0" i="0" kern="1200" dirty="0" err="1">
                <a:solidFill>
                  <a:schemeClr val="tx1"/>
                </a:solidFill>
                <a:effectLst/>
                <a:latin typeface="+mn-lt"/>
                <a:ea typeface="+mn-ea"/>
                <a:cs typeface="+mn-cs"/>
              </a:rPr>
              <a:t>über's</a:t>
            </a:r>
            <a:r>
              <a:rPr lang="de-CH" sz="1200" b="0" i="0" kern="1200" dirty="0">
                <a:solidFill>
                  <a:schemeClr val="tx1"/>
                </a:solidFill>
                <a:effectLst/>
                <a:latin typeface="+mn-lt"/>
                <a:ea typeface="+mn-ea"/>
                <a:cs typeface="+mn-cs"/>
              </a:rPr>
              <a:t> Topic, Reparatur wird direkt koordiniert. Durable Subscriber für Offline-Szenarien. Und </a:t>
            </a:r>
            <a:r>
              <a:rPr lang="de-CH" sz="1200" b="0" i="0" kern="1200" dirty="0" err="1">
                <a:solidFill>
                  <a:schemeClr val="tx1"/>
                </a:solidFill>
                <a:effectLst/>
                <a:latin typeface="+mn-lt"/>
                <a:ea typeface="+mn-ea"/>
                <a:cs typeface="+mn-cs"/>
              </a:rPr>
              <a:t>Competing</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Consumers</a:t>
            </a:r>
            <a:r>
              <a:rPr lang="de-CH" sz="1200" b="0" i="0" kern="1200" dirty="0">
                <a:solidFill>
                  <a:schemeClr val="tx1"/>
                </a:solidFill>
                <a:effectLst/>
                <a:latin typeface="+mn-lt"/>
                <a:ea typeface="+mn-ea"/>
                <a:cs typeface="+mn-cs"/>
              </a:rPr>
              <a:t>, wenn mehrere denselben Job wollen.</a:t>
            </a:r>
          </a:p>
          <a:p>
            <a:r>
              <a:rPr lang="de-CH" sz="1200" b="0" i="0" kern="1200" dirty="0">
                <a:solidFill>
                  <a:schemeClr val="tx1"/>
                </a:solidFill>
                <a:effectLst/>
                <a:latin typeface="+mn-lt"/>
                <a:ea typeface="+mn-ea"/>
                <a:cs typeface="+mn-cs"/>
              </a:rPr>
              <a:t>Wie das alles zusammenspielt, seht ihr im nächsten Bild.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Hier unser vollständiges EIP-Lösungskonzept. Ich gehe den Fluss von links nach rechts durch.</a:t>
            </a:r>
          </a:p>
          <a:p>
            <a:r>
              <a:rPr lang="de-CH" sz="1200" b="0" i="1" kern="1200" dirty="0">
                <a:solidFill>
                  <a:schemeClr val="tx1"/>
                </a:solidFill>
                <a:effectLst/>
                <a:latin typeface="+mn-lt"/>
                <a:ea typeface="+mn-ea"/>
                <a:cs typeface="+mn-cs"/>
              </a:rPr>
              <a:t>(Mauszeiger auf Callcenter)</a:t>
            </a:r>
            <a:r>
              <a:rPr lang="de-CH" sz="1200" b="0" i="0" kern="1200" dirty="0">
                <a:solidFill>
                  <a:schemeClr val="tx1"/>
                </a:solidFill>
                <a:effectLst/>
                <a:latin typeface="+mn-lt"/>
                <a:ea typeface="+mn-ea"/>
                <a:cs typeface="+mn-cs"/>
              </a:rPr>
              <a:t> Links erstellt das Callcenter einen neuen Auftrag – eine </a:t>
            </a:r>
            <a:r>
              <a:rPr lang="de-CH" sz="1200" b="0" i="0" kern="1200" dirty="0" err="1">
                <a:solidFill>
                  <a:schemeClr val="tx1"/>
                </a:solidFill>
                <a:effectLst/>
                <a:latin typeface="+mn-lt"/>
                <a:ea typeface="+mn-ea"/>
                <a:cs typeface="+mn-cs"/>
              </a:rPr>
              <a:t>JobMessage</a:t>
            </a:r>
            <a:r>
              <a:rPr lang="de-CH" sz="1200" b="0" i="0" kern="1200" dirty="0">
                <a:solidFill>
                  <a:schemeClr val="tx1"/>
                </a:solidFill>
                <a:effectLst/>
                <a:latin typeface="+mn-lt"/>
                <a:ea typeface="+mn-ea"/>
                <a:cs typeface="+mn-cs"/>
              </a:rPr>
              <a:t> mit Jobnummer, Beschreibung, Region und Typ.</a:t>
            </a:r>
          </a:p>
          <a:p>
            <a:r>
              <a:rPr lang="de-CH" sz="1200" b="0" i="1" kern="1200" dirty="0">
                <a:solidFill>
                  <a:schemeClr val="tx1"/>
                </a:solidFill>
                <a:effectLst/>
                <a:latin typeface="+mn-lt"/>
                <a:ea typeface="+mn-ea"/>
                <a:cs typeface="+mn-cs"/>
              </a:rPr>
              <a:t>(Mauszeiger auf Router)</a:t>
            </a:r>
            <a:r>
              <a:rPr lang="de-CH" sz="1200" b="0" i="0" kern="1200" dirty="0">
                <a:solidFill>
                  <a:schemeClr val="tx1"/>
                </a:solidFill>
                <a:effectLst/>
                <a:latin typeface="+mn-lt"/>
                <a:ea typeface="+mn-ea"/>
                <a:cs typeface="+mn-cs"/>
              </a:rPr>
              <a:t> Dann der Content-</a:t>
            </a:r>
            <a:r>
              <a:rPr lang="de-CH" sz="1200" b="0" i="0" kern="1200" dirty="0" err="1">
                <a:solidFill>
                  <a:schemeClr val="tx1"/>
                </a:solidFill>
                <a:effectLst/>
                <a:latin typeface="+mn-lt"/>
                <a:ea typeface="+mn-ea"/>
                <a:cs typeface="+mn-cs"/>
              </a:rPr>
              <a:t>Based</a:t>
            </a:r>
            <a:r>
              <a:rPr lang="de-CH" sz="1200" b="0" i="0" kern="1200" dirty="0">
                <a:solidFill>
                  <a:schemeClr val="tx1"/>
                </a:solidFill>
                <a:effectLst/>
                <a:latin typeface="+mn-lt"/>
                <a:ea typeface="+mn-ea"/>
                <a:cs typeface="+mn-cs"/>
              </a:rPr>
              <a:t> Router: Er prüft den Typ. Reparatur geht zur direkten Koordination – out </a:t>
            </a:r>
            <a:r>
              <a:rPr lang="de-CH" sz="1200" b="0" i="0" kern="1200" dirty="0" err="1">
                <a:solidFill>
                  <a:schemeClr val="tx1"/>
                </a:solidFill>
                <a:effectLst/>
                <a:latin typeface="+mn-lt"/>
                <a:ea typeface="+mn-ea"/>
                <a:cs typeface="+mn-cs"/>
              </a:rPr>
              <a:t>of</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scope</a:t>
            </a:r>
            <a:r>
              <a:rPr lang="de-CH" sz="1200" b="0" i="0" kern="1200" dirty="0">
                <a:solidFill>
                  <a:schemeClr val="tx1"/>
                </a:solidFill>
                <a:effectLst/>
                <a:latin typeface="+mn-lt"/>
                <a:ea typeface="+mn-ea"/>
                <a:cs typeface="+mn-cs"/>
              </a:rPr>
              <a:t> für uns. Wartung wird auf das Topic </a:t>
            </a:r>
            <a:r>
              <a:rPr lang="de-CH" sz="1200" b="0" i="0" kern="1200" dirty="0" err="1">
                <a:solidFill>
                  <a:schemeClr val="tx1"/>
                </a:solidFill>
                <a:effectLst/>
                <a:latin typeface="+mn-lt"/>
                <a:ea typeface="+mn-ea"/>
                <a:cs typeface="+mn-cs"/>
              </a:rPr>
              <a:t>dispo.jobs.new</a:t>
            </a:r>
            <a:r>
              <a:rPr lang="de-CH" sz="1200" b="0" i="0" kern="1200" dirty="0">
                <a:solidFill>
                  <a:schemeClr val="tx1"/>
                </a:solidFill>
                <a:effectLst/>
                <a:latin typeface="+mn-lt"/>
                <a:ea typeface="+mn-ea"/>
                <a:cs typeface="+mn-cs"/>
              </a:rPr>
              <a:t> publiziert.</a:t>
            </a:r>
          </a:p>
          <a:p>
            <a:r>
              <a:rPr lang="de-CH" sz="1200" b="0" i="1" kern="1200" dirty="0">
                <a:solidFill>
                  <a:schemeClr val="tx1"/>
                </a:solidFill>
                <a:effectLst/>
                <a:latin typeface="+mn-lt"/>
                <a:ea typeface="+mn-ea"/>
                <a:cs typeface="+mn-cs"/>
              </a:rPr>
              <a:t>(Mauszeiger auf Mitte)</a:t>
            </a:r>
            <a:r>
              <a:rPr lang="de-CH" sz="1200" b="0" i="0" kern="1200" dirty="0">
                <a:solidFill>
                  <a:schemeClr val="tx1"/>
                </a:solidFill>
                <a:effectLst/>
                <a:latin typeface="+mn-lt"/>
                <a:ea typeface="+mn-ea"/>
                <a:cs typeface="+mn-cs"/>
              </a:rPr>
              <a:t> Hier in der Mitte: Jeder Client ist als Durable Subscriber registriert. Optional mit Message Filter nach Region. Alle bekommen eine Kopie.</a:t>
            </a:r>
          </a:p>
          <a:p>
            <a:r>
              <a:rPr lang="de-CH" sz="1200" b="0" i="1" kern="1200" dirty="0">
                <a:solidFill>
                  <a:schemeClr val="tx1"/>
                </a:solidFill>
                <a:effectLst/>
                <a:latin typeface="+mn-lt"/>
                <a:ea typeface="+mn-ea"/>
                <a:cs typeface="+mn-cs"/>
              </a:rPr>
              <a:t>(Mauszeiger auf Queue unten)</a:t>
            </a:r>
            <a:r>
              <a:rPr lang="de-CH" sz="1200" b="0" i="0" kern="1200" dirty="0">
                <a:solidFill>
                  <a:schemeClr val="tx1"/>
                </a:solidFill>
                <a:effectLst/>
                <a:latin typeface="+mn-lt"/>
                <a:ea typeface="+mn-ea"/>
                <a:cs typeface="+mn-cs"/>
              </a:rPr>
              <a:t> Will ein Mitarbeiter den Job, geht seine Anfrage über die Queue </a:t>
            </a:r>
            <a:r>
              <a:rPr lang="de-CH" sz="1200" b="0" i="0" kern="1200" dirty="0" err="1">
                <a:solidFill>
                  <a:schemeClr val="tx1"/>
                </a:solidFill>
                <a:effectLst/>
                <a:latin typeface="+mn-lt"/>
                <a:ea typeface="+mn-ea"/>
                <a:cs typeface="+mn-cs"/>
              </a:rPr>
              <a:t>dispo.jobs.requestAssignment</a:t>
            </a:r>
            <a:r>
              <a:rPr lang="de-CH" sz="1200" b="0" i="0" kern="1200" dirty="0">
                <a:solidFill>
                  <a:schemeClr val="tx1"/>
                </a:solidFill>
                <a:effectLst/>
                <a:latin typeface="+mn-lt"/>
                <a:ea typeface="+mn-ea"/>
                <a:cs typeface="+mn-cs"/>
              </a:rPr>
              <a:t> – Point-</a:t>
            </a:r>
            <a:r>
              <a:rPr lang="de-CH" sz="1200" b="0" i="0" kern="1200" dirty="0" err="1">
                <a:solidFill>
                  <a:schemeClr val="tx1"/>
                </a:solidFill>
                <a:effectLst/>
                <a:latin typeface="+mn-lt"/>
                <a:ea typeface="+mn-ea"/>
                <a:cs typeface="+mn-cs"/>
              </a:rPr>
              <a:t>to</a:t>
            </a:r>
            <a:r>
              <a:rPr lang="de-CH" sz="1200" b="0" i="0" kern="1200" dirty="0">
                <a:solidFill>
                  <a:schemeClr val="tx1"/>
                </a:solidFill>
                <a:effectLst/>
                <a:latin typeface="+mn-lt"/>
                <a:ea typeface="+mn-ea"/>
                <a:cs typeface="+mn-cs"/>
              </a:rPr>
              <a:t>-Point.</a:t>
            </a:r>
          </a:p>
          <a:p>
            <a:r>
              <a:rPr lang="de-CH" sz="1200" b="0" i="1" kern="1200" dirty="0">
                <a:solidFill>
                  <a:schemeClr val="tx1"/>
                </a:solidFill>
                <a:effectLst/>
                <a:latin typeface="+mn-lt"/>
                <a:ea typeface="+mn-ea"/>
                <a:cs typeface="+mn-cs"/>
              </a:rPr>
              <a:t>(Mauszeiger auf rechts)</a:t>
            </a:r>
            <a:r>
              <a:rPr lang="de-CH" sz="1200" b="0" i="0" kern="1200" dirty="0">
                <a:solidFill>
                  <a:schemeClr val="tx1"/>
                </a:solidFill>
                <a:effectLst/>
                <a:latin typeface="+mn-lt"/>
                <a:ea typeface="+mn-ea"/>
                <a:cs typeface="+mn-cs"/>
              </a:rPr>
              <a:t> Die Disposition entscheidet und sendet die Zuweisung über das Topic </a:t>
            </a:r>
            <a:r>
              <a:rPr lang="de-CH" sz="1200" b="0" i="0" kern="1200" dirty="0" err="1">
                <a:solidFill>
                  <a:schemeClr val="tx1"/>
                </a:solidFill>
                <a:effectLst/>
                <a:latin typeface="+mn-lt"/>
                <a:ea typeface="+mn-ea"/>
                <a:cs typeface="+mn-cs"/>
              </a:rPr>
              <a:t>dispo.jobs.assignments</a:t>
            </a:r>
            <a:r>
              <a:rPr lang="de-CH" sz="1200" b="0" i="0" kern="1200" dirty="0">
                <a:solidFill>
                  <a:schemeClr val="tx1"/>
                </a:solidFill>
                <a:effectLst/>
                <a:latin typeface="+mn-lt"/>
                <a:ea typeface="+mn-ea"/>
                <a:cs typeface="+mn-cs"/>
              </a:rPr>
              <a:t> zurück an alle Clients.</a:t>
            </a:r>
          </a:p>
          <a:p>
            <a:r>
              <a:rPr lang="de-CH" sz="1200" b="0" i="0" kern="1200" dirty="0">
                <a:solidFill>
                  <a:schemeClr val="tx1"/>
                </a:solidFill>
                <a:effectLst/>
                <a:latin typeface="+mn-lt"/>
                <a:ea typeface="+mn-ea"/>
                <a:cs typeface="+mn-cs"/>
              </a:rPr>
              <a:t>Unten die drei Schritte zusammengefasst: Topic rein, Queue zur Disposition, Topic zurück.</a:t>
            </a:r>
          </a:p>
          <a:p>
            <a:r>
              <a:rPr lang="de-CH" sz="1200" b="0" i="0" kern="1200" dirty="0">
                <a:solidFill>
                  <a:schemeClr val="tx1"/>
                </a:solidFill>
                <a:effectLst/>
                <a:latin typeface="+mn-lt"/>
                <a:ea typeface="+mn-ea"/>
                <a:cs typeface="+mn-cs"/>
              </a:rPr>
              <a:t>Jetzt übergebe ich an Loris, der zeigt, wie wir das im Code umgesetzt haben.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Danke Roberto. Hier seht ihr unseren </a:t>
            </a:r>
            <a:r>
              <a:rPr lang="de-CH" sz="1200" b="0" i="0" kern="1200" dirty="0" err="1">
                <a:solidFill>
                  <a:schemeClr val="tx1"/>
                </a:solidFill>
                <a:effectLst/>
                <a:latin typeface="+mn-lt"/>
                <a:ea typeface="+mn-ea"/>
                <a:cs typeface="+mn-cs"/>
              </a:rPr>
              <a:t>Techstack</a:t>
            </a:r>
            <a:r>
              <a:rPr lang="de-CH" sz="1200" b="0" i="0" kern="1200" dirty="0">
                <a:solidFill>
                  <a:schemeClr val="tx1"/>
                </a:solidFill>
                <a:effectLst/>
                <a:latin typeface="+mn-lt"/>
                <a:ea typeface="+mn-ea"/>
                <a:cs typeface="+mn-cs"/>
              </a:rPr>
              <a:t>: Spring Boot mit der </a:t>
            </a:r>
            <a:r>
              <a:rPr lang="de-CH" sz="1200" b="0" i="0" kern="1200" dirty="0" err="1">
                <a:solidFill>
                  <a:schemeClr val="tx1"/>
                </a:solidFill>
                <a:effectLst/>
                <a:latin typeface="+mn-lt"/>
                <a:ea typeface="+mn-ea"/>
                <a:cs typeface="+mn-cs"/>
              </a:rPr>
              <a:t>ActiveMQ-Dependency</a:t>
            </a:r>
            <a:r>
              <a:rPr lang="de-CH" sz="1200" b="0" i="0" kern="1200" dirty="0">
                <a:solidFill>
                  <a:schemeClr val="tx1"/>
                </a:solidFill>
                <a:effectLst/>
                <a:latin typeface="+mn-lt"/>
                <a:ea typeface="+mn-ea"/>
                <a:cs typeface="+mn-cs"/>
              </a:rPr>
              <a:t> – das bringt alles für JMS mit. </a:t>
            </a:r>
            <a:r>
              <a:rPr lang="de-CH" sz="1200" b="0" i="0" kern="1200" dirty="0" err="1">
                <a:solidFill>
                  <a:schemeClr val="tx1"/>
                </a:solidFill>
                <a:effectLst/>
                <a:latin typeface="+mn-lt"/>
                <a:ea typeface="+mn-ea"/>
                <a:cs typeface="+mn-cs"/>
              </a:rPr>
              <a:t>ActiveMQ</a:t>
            </a:r>
            <a:r>
              <a:rPr lang="de-CH" sz="1200" b="0" i="0" kern="1200" dirty="0">
                <a:solidFill>
                  <a:schemeClr val="tx1"/>
                </a:solidFill>
                <a:effectLst/>
                <a:latin typeface="+mn-lt"/>
                <a:ea typeface="+mn-ea"/>
                <a:cs typeface="+mn-cs"/>
              </a:rPr>
              <a:t> als Message Broker. Und eine Swing-GUI als Desktop-Client.</a:t>
            </a:r>
          </a:p>
          <a:p>
            <a:r>
              <a:rPr lang="de-CH" sz="1200" b="0" i="0" kern="1200" dirty="0">
                <a:solidFill>
                  <a:schemeClr val="tx1"/>
                </a:solidFill>
                <a:effectLst/>
                <a:latin typeface="+mn-lt"/>
                <a:ea typeface="+mn-ea"/>
                <a:cs typeface="+mn-cs"/>
              </a:rPr>
              <a:t>Unten das Wichtige: Wir haben einen Client-Stub bekommen und genau zwei Dateien implementiert: den </a:t>
            </a:r>
            <a:r>
              <a:rPr lang="de-CH" sz="1200" b="0" i="0" kern="1200" dirty="0" err="1">
                <a:solidFill>
                  <a:schemeClr val="tx1"/>
                </a:solidFill>
                <a:effectLst/>
                <a:latin typeface="+mn-lt"/>
                <a:ea typeface="+mn-ea"/>
                <a:cs typeface="+mn-cs"/>
              </a:rPr>
              <a:t>MessageReceiver</a:t>
            </a:r>
            <a:r>
              <a:rPr lang="de-CH" sz="1200" b="0" i="0" kern="1200" dirty="0">
                <a:solidFill>
                  <a:schemeClr val="tx1"/>
                </a:solidFill>
                <a:effectLst/>
                <a:latin typeface="+mn-lt"/>
                <a:ea typeface="+mn-ea"/>
                <a:cs typeface="+mn-cs"/>
              </a:rPr>
              <a:t> für das Empfangen über Topics, und den </a:t>
            </a:r>
            <a:r>
              <a:rPr lang="de-CH" sz="1200" b="0" i="0" kern="1200" dirty="0" err="1">
                <a:solidFill>
                  <a:schemeClr val="tx1"/>
                </a:solidFill>
                <a:effectLst/>
                <a:latin typeface="+mn-lt"/>
                <a:ea typeface="+mn-ea"/>
                <a:cs typeface="+mn-cs"/>
              </a:rPr>
              <a:t>MessageSender</a:t>
            </a:r>
            <a:r>
              <a:rPr lang="de-CH" sz="1200" b="0" i="0" kern="1200" dirty="0">
                <a:solidFill>
                  <a:schemeClr val="tx1"/>
                </a:solidFill>
                <a:effectLst/>
                <a:latin typeface="+mn-lt"/>
                <a:ea typeface="+mn-ea"/>
                <a:cs typeface="+mn-cs"/>
              </a:rPr>
              <a:t> für das Anfragen über die Queue. Das schauen wir uns jetzt an.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Der </a:t>
            </a:r>
            <a:r>
              <a:rPr lang="de-CH" sz="1200" b="0" i="0" kern="1200" dirty="0" err="1">
                <a:solidFill>
                  <a:schemeClr val="tx1"/>
                </a:solidFill>
                <a:effectLst/>
                <a:latin typeface="+mn-lt"/>
                <a:ea typeface="+mn-ea"/>
                <a:cs typeface="+mn-cs"/>
              </a:rPr>
              <a:t>MessageReceiver</a:t>
            </a:r>
            <a:r>
              <a:rPr lang="de-CH" sz="1200" b="0" i="0" kern="1200" dirty="0">
                <a:solidFill>
                  <a:schemeClr val="tx1"/>
                </a:solidFill>
                <a:effectLst/>
                <a:latin typeface="+mn-lt"/>
                <a:ea typeface="+mn-ea"/>
                <a:cs typeface="+mn-cs"/>
              </a:rPr>
              <a:t> ist das Herzstück. Links seht ihr den Code, rechts die Erklärungen.</a:t>
            </a:r>
          </a:p>
          <a:p>
            <a:r>
              <a:rPr lang="de-CH" sz="1200" b="0" i="1" kern="1200" dirty="0">
                <a:solidFill>
                  <a:schemeClr val="tx1"/>
                </a:solidFill>
                <a:effectLst/>
                <a:latin typeface="+mn-lt"/>
                <a:ea typeface="+mn-ea"/>
                <a:cs typeface="+mn-cs"/>
              </a:rPr>
              <a:t>(Zeigt auf oberen Codeblock)</a:t>
            </a:r>
            <a:r>
              <a:rPr lang="de-CH" sz="1200" b="0" i="0" kern="1200" dirty="0">
                <a:solidFill>
                  <a:schemeClr val="tx1"/>
                </a:solidFill>
                <a:effectLst/>
                <a:latin typeface="+mn-lt"/>
                <a:ea typeface="+mn-ea"/>
                <a:cs typeface="+mn-cs"/>
              </a:rPr>
              <a:t> Der erste </a:t>
            </a:r>
            <a:r>
              <a:rPr lang="de-CH" sz="1200" b="0" i="0" kern="1200" dirty="0" err="1">
                <a:solidFill>
                  <a:schemeClr val="tx1"/>
                </a:solidFill>
                <a:effectLst/>
                <a:latin typeface="+mn-lt"/>
                <a:ea typeface="+mn-ea"/>
                <a:cs typeface="+mn-cs"/>
              </a:rPr>
              <a:t>JmsListener</a:t>
            </a:r>
            <a:r>
              <a:rPr lang="de-CH" sz="1200" b="0" i="0" kern="1200" dirty="0">
                <a:solidFill>
                  <a:schemeClr val="tx1"/>
                </a:solidFill>
                <a:effectLst/>
                <a:latin typeface="+mn-lt"/>
                <a:ea typeface="+mn-ea"/>
                <a:cs typeface="+mn-cs"/>
              </a:rPr>
              <a:t> hört auf das Topic </a:t>
            </a:r>
            <a:r>
              <a:rPr lang="de-CH" sz="1200" b="0" i="0" kern="1200" dirty="0" err="1">
                <a:solidFill>
                  <a:schemeClr val="tx1"/>
                </a:solidFill>
                <a:effectLst/>
                <a:latin typeface="+mn-lt"/>
                <a:ea typeface="+mn-ea"/>
                <a:cs typeface="+mn-cs"/>
              </a:rPr>
              <a:t>dispo.jobs.new</a:t>
            </a:r>
            <a:r>
              <a:rPr lang="de-CH" sz="1200" b="0" i="0" kern="1200" dirty="0">
                <a:solidFill>
                  <a:schemeClr val="tx1"/>
                </a:solidFill>
                <a:effectLst/>
                <a:latin typeface="+mn-lt"/>
                <a:ea typeface="+mn-ea"/>
                <a:cs typeface="+mn-cs"/>
              </a:rPr>
              <a:t>. Jeder neue Job wird empfangen und zur GUI-Liste hinzugefügt. Das ist Publish-</a:t>
            </a:r>
            <a:r>
              <a:rPr lang="de-CH" sz="1200" b="0" i="0" kern="1200" dirty="0" err="1">
                <a:solidFill>
                  <a:schemeClr val="tx1"/>
                </a:solidFill>
                <a:effectLst/>
                <a:latin typeface="+mn-lt"/>
                <a:ea typeface="+mn-ea"/>
                <a:cs typeface="+mn-cs"/>
              </a:rPr>
              <a:t>Subscribe</a:t>
            </a:r>
            <a:r>
              <a:rPr lang="de-CH" sz="1200" b="0" i="0" kern="1200" dirty="0">
                <a:solidFill>
                  <a:schemeClr val="tx1"/>
                </a:solidFill>
                <a:effectLst/>
                <a:latin typeface="+mn-lt"/>
                <a:ea typeface="+mn-ea"/>
                <a:cs typeface="+mn-cs"/>
              </a:rPr>
              <a:t> – jeder Client bekommt eine Kopie.</a:t>
            </a:r>
          </a:p>
          <a:p>
            <a:r>
              <a:rPr lang="de-CH" sz="1200" b="0" i="1" kern="1200" dirty="0">
                <a:solidFill>
                  <a:schemeClr val="tx1"/>
                </a:solidFill>
                <a:effectLst/>
                <a:latin typeface="+mn-lt"/>
                <a:ea typeface="+mn-ea"/>
                <a:cs typeface="+mn-cs"/>
              </a:rPr>
              <a:t>(Zeigt auf mittleren Codeblock)</a:t>
            </a:r>
            <a:r>
              <a:rPr lang="de-CH" sz="1200" b="0" i="0" kern="1200" dirty="0">
                <a:solidFill>
                  <a:schemeClr val="tx1"/>
                </a:solidFill>
                <a:effectLst/>
                <a:latin typeface="+mn-lt"/>
                <a:ea typeface="+mn-ea"/>
                <a:cs typeface="+mn-cs"/>
              </a:rPr>
              <a:t> Der zweite </a:t>
            </a:r>
            <a:r>
              <a:rPr lang="de-CH" sz="1200" b="0" i="0" kern="1200" dirty="0" err="1">
                <a:solidFill>
                  <a:schemeClr val="tx1"/>
                </a:solidFill>
                <a:effectLst/>
                <a:latin typeface="+mn-lt"/>
                <a:ea typeface="+mn-ea"/>
                <a:cs typeface="+mn-cs"/>
              </a:rPr>
              <a:t>Listener</a:t>
            </a:r>
            <a:r>
              <a:rPr lang="de-CH" sz="1200" b="0" i="0" kern="1200" dirty="0">
                <a:solidFill>
                  <a:schemeClr val="tx1"/>
                </a:solidFill>
                <a:effectLst/>
                <a:latin typeface="+mn-lt"/>
                <a:ea typeface="+mn-ea"/>
                <a:cs typeface="+mn-cs"/>
              </a:rPr>
              <a:t> hört auf </a:t>
            </a:r>
            <a:r>
              <a:rPr lang="de-CH" sz="1200" b="0" i="0" kern="1200" dirty="0" err="1">
                <a:solidFill>
                  <a:schemeClr val="tx1"/>
                </a:solidFill>
                <a:effectLst/>
                <a:latin typeface="+mn-lt"/>
                <a:ea typeface="+mn-ea"/>
                <a:cs typeface="+mn-cs"/>
              </a:rPr>
              <a:t>dispo.jobs.assignments</a:t>
            </a:r>
            <a:r>
              <a:rPr lang="de-CH" sz="1200" b="0" i="0" kern="1200" dirty="0">
                <a:solidFill>
                  <a:schemeClr val="tx1"/>
                </a:solidFill>
                <a:effectLst/>
                <a:latin typeface="+mn-lt"/>
                <a:ea typeface="+mn-ea"/>
                <a:cs typeface="+mn-cs"/>
              </a:rPr>
              <a:t>. Wenn die Disposition einen Job zuweist, wird er hier empfangen und aus der offenen Liste entfernt.</a:t>
            </a:r>
          </a:p>
          <a:p>
            <a:r>
              <a:rPr lang="de-CH" sz="1200" b="0" i="1" kern="1200" dirty="0">
                <a:solidFill>
                  <a:schemeClr val="tx1"/>
                </a:solidFill>
                <a:effectLst/>
                <a:latin typeface="+mn-lt"/>
                <a:ea typeface="+mn-ea"/>
                <a:cs typeface="+mn-cs"/>
              </a:rPr>
              <a:t>(Zeigt auf gelb markierte Zeile)</a:t>
            </a:r>
            <a:r>
              <a:rPr lang="de-CH" sz="1200" b="0" i="0" kern="1200" dirty="0">
                <a:solidFill>
                  <a:schemeClr val="tx1"/>
                </a:solidFill>
                <a:effectLst/>
                <a:latin typeface="+mn-lt"/>
                <a:ea typeface="+mn-ea"/>
                <a:cs typeface="+mn-cs"/>
              </a:rPr>
              <a:t> Und hier die entscheidende Konfiguration: </a:t>
            </a:r>
            <a:r>
              <a:rPr lang="de-CH" sz="1200" b="0" i="0" kern="1200" dirty="0" err="1">
                <a:solidFill>
                  <a:schemeClr val="tx1"/>
                </a:solidFill>
                <a:effectLst/>
                <a:latin typeface="+mn-lt"/>
                <a:ea typeface="+mn-ea"/>
                <a:cs typeface="+mn-cs"/>
              </a:rPr>
              <a:t>setPubSubDomain</a:t>
            </a:r>
            <a:r>
              <a:rPr lang="de-CH" sz="1200" b="0" i="0" kern="1200" dirty="0">
                <a:solidFill>
                  <a:schemeClr val="tx1"/>
                </a:solidFill>
                <a:effectLst/>
                <a:latin typeface="+mn-lt"/>
                <a:ea typeface="+mn-ea"/>
                <a:cs typeface="+mn-cs"/>
              </a:rPr>
              <a:t>(</a:t>
            </a:r>
            <a:r>
              <a:rPr lang="de-CH" sz="1200" b="0" i="0" kern="1200" dirty="0" err="1">
                <a:solidFill>
                  <a:schemeClr val="tx1"/>
                </a:solidFill>
                <a:effectLst/>
                <a:latin typeface="+mn-lt"/>
                <a:ea typeface="+mn-ea"/>
                <a:cs typeface="+mn-cs"/>
              </a:rPr>
              <a:t>true</a:t>
            </a:r>
            <a:r>
              <a:rPr lang="de-CH" sz="1200" b="0" i="0" kern="1200" dirty="0">
                <a:solidFill>
                  <a:schemeClr val="tx1"/>
                </a:solidFill>
                <a:effectLst/>
                <a:latin typeface="+mn-lt"/>
                <a:ea typeface="+mn-ea"/>
                <a:cs typeface="+mn-cs"/>
              </a:rPr>
              <a:t>). Das sagt Spring, dass die </a:t>
            </a:r>
            <a:r>
              <a:rPr lang="de-CH" sz="1200" b="0" i="0" kern="1200" dirty="0" err="1">
                <a:solidFill>
                  <a:schemeClr val="tx1"/>
                </a:solidFill>
                <a:effectLst/>
                <a:latin typeface="+mn-lt"/>
                <a:ea typeface="+mn-ea"/>
                <a:cs typeface="+mn-cs"/>
              </a:rPr>
              <a:t>Listener</a:t>
            </a:r>
            <a:r>
              <a:rPr lang="de-CH" sz="1200" b="0" i="0" kern="1200" dirty="0">
                <a:solidFill>
                  <a:schemeClr val="tx1"/>
                </a:solidFill>
                <a:effectLst/>
                <a:latin typeface="+mn-lt"/>
                <a:ea typeface="+mn-ea"/>
                <a:cs typeface="+mn-cs"/>
              </a:rPr>
              <a:t> auf Topics hören. Ohne diese eine Zeile würden keine Nachrichten ankommen.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Der </a:t>
            </a:r>
            <a:r>
              <a:rPr lang="de-CH" sz="1200" b="0" i="0" kern="1200" dirty="0" err="1">
                <a:solidFill>
                  <a:schemeClr val="tx1"/>
                </a:solidFill>
                <a:effectLst/>
                <a:latin typeface="+mn-lt"/>
                <a:ea typeface="+mn-ea"/>
                <a:cs typeface="+mn-cs"/>
              </a:rPr>
              <a:t>MessageSender</a:t>
            </a:r>
            <a:r>
              <a:rPr lang="de-CH" sz="1200" b="0" i="0" kern="1200" dirty="0">
                <a:solidFill>
                  <a:schemeClr val="tx1"/>
                </a:solidFill>
                <a:effectLst/>
                <a:latin typeface="+mn-lt"/>
                <a:ea typeface="+mn-ea"/>
                <a:cs typeface="+mn-cs"/>
              </a:rPr>
              <a:t> ist das Gegenstück. Wenn ein Mitarbeiter einen Job will, erstellen wir eine </a:t>
            </a:r>
            <a:r>
              <a:rPr lang="de-CH" sz="1200" b="0" i="0" kern="1200" dirty="0" err="1">
                <a:solidFill>
                  <a:schemeClr val="tx1"/>
                </a:solidFill>
                <a:effectLst/>
                <a:latin typeface="+mn-lt"/>
                <a:ea typeface="+mn-ea"/>
                <a:cs typeface="+mn-cs"/>
              </a:rPr>
              <a:t>JobRequestMessage</a:t>
            </a:r>
            <a:r>
              <a:rPr lang="de-CH" sz="1200" b="0" i="0" kern="1200" dirty="0">
                <a:solidFill>
                  <a:schemeClr val="tx1"/>
                </a:solidFill>
                <a:effectLst/>
                <a:latin typeface="+mn-lt"/>
                <a:ea typeface="+mn-ea"/>
                <a:cs typeface="+mn-cs"/>
              </a:rPr>
              <a:t> mit Jobnummer und unserer Gruppenkennung.</a:t>
            </a:r>
          </a:p>
          <a:p>
            <a:r>
              <a:rPr lang="de-CH" sz="1200" b="0" i="1" kern="1200" dirty="0">
                <a:solidFill>
                  <a:schemeClr val="tx1"/>
                </a:solidFill>
                <a:effectLst/>
                <a:latin typeface="+mn-lt"/>
                <a:ea typeface="+mn-ea"/>
                <a:cs typeface="+mn-cs"/>
              </a:rPr>
              <a:t>(Zeigt auf gelbe Zeile)</a:t>
            </a:r>
            <a:r>
              <a:rPr lang="de-CH" sz="1200" b="0" i="0" kern="1200" dirty="0">
                <a:solidFill>
                  <a:schemeClr val="tx1"/>
                </a:solidFill>
                <a:effectLst/>
                <a:latin typeface="+mn-lt"/>
                <a:ea typeface="+mn-ea"/>
                <a:cs typeface="+mn-cs"/>
              </a:rPr>
              <a:t> Die Schlüsselzeile: </a:t>
            </a:r>
            <a:r>
              <a:rPr lang="de-CH" sz="1200" b="0" i="0" kern="1200" dirty="0" err="1">
                <a:solidFill>
                  <a:schemeClr val="tx1"/>
                </a:solidFill>
                <a:effectLst/>
                <a:latin typeface="+mn-lt"/>
                <a:ea typeface="+mn-ea"/>
                <a:cs typeface="+mn-cs"/>
              </a:rPr>
              <a:t>setPubSubDomain</a:t>
            </a:r>
            <a:r>
              <a:rPr lang="de-CH" sz="1200" b="0" i="0" kern="1200" dirty="0">
                <a:solidFill>
                  <a:schemeClr val="tx1"/>
                </a:solidFill>
                <a:effectLst/>
                <a:latin typeface="+mn-lt"/>
                <a:ea typeface="+mn-ea"/>
                <a:cs typeface="+mn-cs"/>
              </a:rPr>
              <a:t>(</a:t>
            </a:r>
            <a:r>
              <a:rPr lang="de-CH" sz="1200" b="0" i="0" kern="1200" dirty="0" err="1">
                <a:solidFill>
                  <a:schemeClr val="tx1"/>
                </a:solidFill>
                <a:effectLst/>
                <a:latin typeface="+mn-lt"/>
                <a:ea typeface="+mn-ea"/>
                <a:cs typeface="+mn-cs"/>
              </a:rPr>
              <a:t>false</a:t>
            </a:r>
            <a:r>
              <a:rPr lang="de-CH" sz="1200" b="0" i="0" kern="1200" dirty="0">
                <a:solidFill>
                  <a:schemeClr val="tx1"/>
                </a:solidFill>
                <a:effectLst/>
                <a:latin typeface="+mn-lt"/>
                <a:ea typeface="+mn-ea"/>
                <a:cs typeface="+mn-cs"/>
              </a:rPr>
              <a:t>). Das ist das Gegenteil vom Receiver – hier senden wir an eine Queue, nicht an ein Topic. Point-</a:t>
            </a:r>
            <a:r>
              <a:rPr lang="de-CH" sz="1200" b="0" i="0" kern="1200" dirty="0" err="1">
                <a:solidFill>
                  <a:schemeClr val="tx1"/>
                </a:solidFill>
                <a:effectLst/>
                <a:latin typeface="+mn-lt"/>
                <a:ea typeface="+mn-ea"/>
                <a:cs typeface="+mn-cs"/>
              </a:rPr>
              <a:t>to</a:t>
            </a:r>
            <a:r>
              <a:rPr lang="de-CH" sz="1200" b="0" i="0" kern="1200" dirty="0">
                <a:solidFill>
                  <a:schemeClr val="tx1"/>
                </a:solidFill>
                <a:effectLst/>
                <a:latin typeface="+mn-lt"/>
                <a:ea typeface="+mn-ea"/>
                <a:cs typeface="+mn-cs"/>
              </a:rPr>
              <a:t>-Point.</a:t>
            </a:r>
          </a:p>
          <a:p>
            <a:r>
              <a:rPr lang="de-CH" sz="1200" b="0" i="0" kern="1200" dirty="0">
                <a:solidFill>
                  <a:schemeClr val="tx1"/>
                </a:solidFill>
                <a:effectLst/>
                <a:latin typeface="+mn-lt"/>
                <a:ea typeface="+mn-ea"/>
                <a:cs typeface="+mn-cs"/>
              </a:rPr>
              <a:t>Rechts der Vergleich: Receiver </a:t>
            </a:r>
            <a:r>
              <a:rPr lang="de-CH" sz="1200" b="0" i="0" kern="1200" dirty="0" err="1">
                <a:solidFill>
                  <a:schemeClr val="tx1"/>
                </a:solidFill>
                <a:effectLst/>
                <a:latin typeface="+mn-lt"/>
                <a:ea typeface="+mn-ea"/>
                <a:cs typeface="+mn-cs"/>
              </a:rPr>
              <a:t>true</a:t>
            </a:r>
            <a:r>
              <a:rPr lang="de-CH" sz="1200" b="0" i="0" kern="1200" dirty="0">
                <a:solidFill>
                  <a:schemeClr val="tx1"/>
                </a:solidFill>
                <a:effectLst/>
                <a:latin typeface="+mn-lt"/>
                <a:ea typeface="+mn-ea"/>
                <a:cs typeface="+mn-cs"/>
              </a:rPr>
              <a:t> für Topics, Sender </a:t>
            </a:r>
            <a:r>
              <a:rPr lang="de-CH" sz="1200" b="0" i="0" kern="1200" dirty="0" err="1">
                <a:solidFill>
                  <a:schemeClr val="tx1"/>
                </a:solidFill>
                <a:effectLst/>
                <a:latin typeface="+mn-lt"/>
                <a:ea typeface="+mn-ea"/>
                <a:cs typeface="+mn-cs"/>
              </a:rPr>
              <a:t>false</a:t>
            </a:r>
            <a:r>
              <a:rPr lang="de-CH" sz="1200" b="0" i="0" kern="1200" dirty="0">
                <a:solidFill>
                  <a:schemeClr val="tx1"/>
                </a:solidFill>
                <a:effectLst/>
                <a:latin typeface="+mn-lt"/>
                <a:ea typeface="+mn-ea"/>
                <a:cs typeface="+mn-cs"/>
              </a:rPr>
              <a:t> für Queue. Eine einzige Boolean-Konfiguration entscheidet über das Messaging-Pattern. Das ist der Kern unserer Implementierung.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Hier seht ihr den Demo-Ablauf in vier Schritten. Jetzt zeigen wir das live.</a:t>
            </a:r>
            <a:br>
              <a:rPr lang="de-CH" sz="1200" b="0" i="0" kern="1200" dirty="0">
                <a:solidFill>
                  <a:schemeClr val="tx1"/>
                </a:solidFill>
                <a:effectLst/>
                <a:latin typeface="+mn-lt"/>
                <a:ea typeface="+mn-ea"/>
                <a:cs typeface="+mn-cs"/>
              </a:rPr>
            </a:br>
            <a:br>
              <a:rPr lang="de-CH" sz="1200" b="0" i="0" kern="1200" dirty="0">
                <a:solidFill>
                  <a:schemeClr val="tx1"/>
                </a:solidFill>
                <a:effectLst/>
                <a:latin typeface="+mn-lt"/>
                <a:ea typeface="+mn-ea"/>
                <a:cs typeface="+mn-cs"/>
              </a:rPr>
            </a:br>
            <a:r>
              <a:rPr lang="de-CH" sz="1200" b="0" i="0" kern="1200" dirty="0">
                <a:solidFill>
                  <a:schemeClr val="tx1"/>
                </a:solidFill>
                <a:effectLst/>
                <a:latin typeface="+mn-lt"/>
                <a:ea typeface="+mn-ea"/>
                <a:cs typeface="+mn-cs"/>
              </a:rPr>
              <a:t>Ich starte die Spring Boot Applikation.</a:t>
            </a:r>
          </a:p>
          <a:p>
            <a:r>
              <a:rPr lang="de-CH" sz="1200" b="0" i="1" kern="1200" dirty="0">
                <a:solidFill>
                  <a:schemeClr val="tx1"/>
                </a:solidFill>
                <a:effectLst/>
                <a:latin typeface="+mn-lt"/>
                <a:ea typeface="+mn-ea"/>
                <a:cs typeface="+mn-cs"/>
              </a:rPr>
              <a:t>(Terminal: cd Case3_ClientApp &amp;&amp; </a:t>
            </a:r>
            <a:r>
              <a:rPr lang="de-CH" sz="1200" b="0" i="1" kern="1200" dirty="0" err="1">
                <a:solidFill>
                  <a:schemeClr val="tx1"/>
                </a:solidFill>
                <a:effectLst/>
                <a:latin typeface="+mn-lt"/>
                <a:ea typeface="+mn-ea"/>
                <a:cs typeface="+mn-cs"/>
              </a:rPr>
              <a:t>mvn</a:t>
            </a:r>
            <a:r>
              <a:rPr lang="de-CH" sz="1200" b="0" i="1" kern="1200" dirty="0">
                <a:solidFill>
                  <a:schemeClr val="tx1"/>
                </a:solidFill>
                <a:effectLst/>
                <a:latin typeface="+mn-lt"/>
                <a:ea typeface="+mn-ea"/>
                <a:cs typeface="+mn-cs"/>
              </a:rPr>
              <a:t> </a:t>
            </a:r>
            <a:r>
              <a:rPr lang="de-CH" sz="1200" b="0" i="1" kern="1200" dirty="0" err="1">
                <a:solidFill>
                  <a:schemeClr val="tx1"/>
                </a:solidFill>
                <a:effectLst/>
                <a:latin typeface="+mn-lt"/>
                <a:ea typeface="+mn-ea"/>
                <a:cs typeface="+mn-cs"/>
              </a:rPr>
              <a:t>spring-boot:run</a:t>
            </a:r>
            <a:r>
              <a:rPr lang="de-CH" sz="1200" b="0" i="1" kern="1200" dirty="0">
                <a:solidFill>
                  <a:schemeClr val="tx1"/>
                </a:solidFill>
                <a:effectLst/>
                <a:latin typeface="+mn-lt"/>
                <a:ea typeface="+mn-ea"/>
                <a:cs typeface="+mn-cs"/>
              </a:rPr>
              <a:t>)</a:t>
            </a:r>
            <a:r>
              <a:rPr lang="de-CH" sz="1200" b="0" i="0" kern="1200" dirty="0">
                <a:solidFill>
                  <a:schemeClr val="tx1"/>
                </a:solidFill>
                <a:effectLst/>
                <a:latin typeface="+mn-lt"/>
                <a:ea typeface="+mn-ea"/>
                <a:cs typeface="+mn-cs"/>
              </a:rPr>
              <a:t> </a:t>
            </a:r>
            <a:r>
              <a:rPr lang="de-CH" sz="1200" b="0" i="1" kern="1200" dirty="0">
                <a:solidFill>
                  <a:schemeClr val="tx1"/>
                </a:solidFill>
                <a:effectLst/>
                <a:latin typeface="+mn-lt"/>
                <a:ea typeface="+mn-ea"/>
                <a:cs typeface="+mn-cs"/>
              </a:rPr>
              <a:t>(App startet, GUI öffnet sich)</a:t>
            </a:r>
            <a:endParaRPr lang="de-CH" sz="1200" b="0" i="0" kern="1200" dirty="0">
              <a:solidFill>
                <a:schemeClr val="tx1"/>
              </a:solidFill>
              <a:effectLst/>
              <a:latin typeface="+mn-lt"/>
              <a:ea typeface="+mn-ea"/>
              <a:cs typeface="+mn-cs"/>
            </a:endParaRPr>
          </a:p>
          <a:p>
            <a:r>
              <a:rPr lang="de-CH" sz="1200" b="0" i="0" kern="1200" dirty="0">
                <a:solidFill>
                  <a:schemeClr val="tx1"/>
                </a:solidFill>
                <a:effectLst/>
                <a:latin typeface="+mn-lt"/>
                <a:ea typeface="+mn-ea"/>
                <a:cs typeface="+mn-cs"/>
              </a:rPr>
              <a:t>Ihr seht zwei Listen – links offene Jobs, rechts zugewiesene. Und schon kommen die ersten Jobs rein – alle paar Sekunden ein neuer, über das Topic.</a:t>
            </a:r>
          </a:p>
          <a:p>
            <a:r>
              <a:rPr lang="de-CH" sz="1200" b="0" i="1" kern="1200" dirty="0">
                <a:solidFill>
                  <a:schemeClr val="tx1"/>
                </a:solidFill>
                <a:effectLst/>
                <a:latin typeface="+mn-lt"/>
                <a:ea typeface="+mn-ea"/>
                <a:cs typeface="+mn-cs"/>
              </a:rPr>
              <a:t>(Zeigt auf einen Job)</a:t>
            </a:r>
            <a:r>
              <a:rPr lang="de-CH" sz="1200" b="0" i="0" kern="1200" dirty="0">
                <a:solidFill>
                  <a:schemeClr val="tx1"/>
                </a:solidFill>
                <a:effectLst/>
                <a:latin typeface="+mn-lt"/>
                <a:ea typeface="+mn-ea"/>
                <a:cs typeface="+mn-cs"/>
              </a:rPr>
              <a:t> Hier seht ihr die Felder: Jobnummer, Beschreibung, Datum, Region.</a:t>
            </a:r>
          </a:p>
          <a:p>
            <a:r>
              <a:rPr lang="de-CH" sz="1200" b="0" i="0" kern="1200" dirty="0">
                <a:solidFill>
                  <a:schemeClr val="tx1"/>
                </a:solidFill>
                <a:effectLst/>
                <a:latin typeface="+mn-lt"/>
                <a:ea typeface="+mn-ea"/>
                <a:cs typeface="+mn-cs"/>
              </a:rPr>
              <a:t>Jetzt selektiere ich einen Job und klicke auf ‚Selektierten Job anfordern'.</a:t>
            </a:r>
          </a:p>
          <a:p>
            <a:r>
              <a:rPr lang="de-CH" sz="1200" b="0" i="1" kern="1200" dirty="0">
                <a:solidFill>
                  <a:schemeClr val="tx1"/>
                </a:solidFill>
                <a:effectLst/>
                <a:latin typeface="+mn-lt"/>
                <a:ea typeface="+mn-ea"/>
                <a:cs typeface="+mn-cs"/>
              </a:rPr>
              <a:t>(Klickt Button, wartet kurz)</a:t>
            </a:r>
            <a:endParaRPr lang="de-CH" sz="1200" b="0" i="0" kern="1200" dirty="0">
              <a:solidFill>
                <a:schemeClr val="tx1"/>
              </a:solidFill>
              <a:effectLst/>
              <a:latin typeface="+mn-lt"/>
              <a:ea typeface="+mn-ea"/>
              <a:cs typeface="+mn-cs"/>
            </a:endParaRPr>
          </a:p>
          <a:p>
            <a:r>
              <a:rPr lang="de-CH" sz="1200" b="0" i="0" kern="1200" dirty="0">
                <a:solidFill>
                  <a:schemeClr val="tx1"/>
                </a:solidFill>
                <a:effectLst/>
                <a:latin typeface="+mn-lt"/>
                <a:ea typeface="+mn-ea"/>
                <a:cs typeface="+mn-cs"/>
              </a:rPr>
              <a:t>Da ist die Zuweisung – der Job ist links verschwunden und rechts eingetragen. Das ist der komplette Kreislauf: Publish-</a:t>
            </a:r>
            <a:r>
              <a:rPr lang="de-CH" sz="1200" b="0" i="0" kern="1200" dirty="0" err="1">
                <a:solidFill>
                  <a:schemeClr val="tx1"/>
                </a:solidFill>
                <a:effectLst/>
                <a:latin typeface="+mn-lt"/>
                <a:ea typeface="+mn-ea"/>
                <a:cs typeface="+mn-cs"/>
              </a:rPr>
              <a:t>Subscribe</a:t>
            </a:r>
            <a:r>
              <a:rPr lang="de-CH" sz="1200" b="0" i="0" kern="1200" dirty="0">
                <a:solidFill>
                  <a:schemeClr val="tx1"/>
                </a:solidFill>
                <a:effectLst/>
                <a:latin typeface="+mn-lt"/>
                <a:ea typeface="+mn-ea"/>
                <a:cs typeface="+mn-cs"/>
              </a:rPr>
              <a:t> rein, Point-</a:t>
            </a:r>
            <a:r>
              <a:rPr lang="de-CH" sz="1200" b="0" i="0" kern="1200" dirty="0" err="1">
                <a:solidFill>
                  <a:schemeClr val="tx1"/>
                </a:solidFill>
                <a:effectLst/>
                <a:latin typeface="+mn-lt"/>
                <a:ea typeface="+mn-ea"/>
                <a:cs typeface="+mn-cs"/>
              </a:rPr>
              <a:t>to</a:t>
            </a:r>
            <a:r>
              <a:rPr lang="de-CH" sz="1200" b="0" i="0" kern="1200" dirty="0">
                <a:solidFill>
                  <a:schemeClr val="tx1"/>
                </a:solidFill>
                <a:effectLst/>
                <a:latin typeface="+mn-lt"/>
                <a:ea typeface="+mn-ea"/>
                <a:cs typeface="+mn-cs"/>
              </a:rPr>
              <a:t>-Point zur Disposition, Publish-</a:t>
            </a:r>
            <a:r>
              <a:rPr lang="de-CH" sz="1200" b="0" i="0" kern="1200" dirty="0" err="1">
                <a:solidFill>
                  <a:schemeClr val="tx1"/>
                </a:solidFill>
                <a:effectLst/>
                <a:latin typeface="+mn-lt"/>
                <a:ea typeface="+mn-ea"/>
                <a:cs typeface="+mn-cs"/>
              </a:rPr>
              <a:t>Subscribe</a:t>
            </a:r>
            <a:r>
              <a:rPr lang="de-CH" sz="1200" b="0" i="0" kern="1200" dirty="0">
                <a:solidFill>
                  <a:schemeClr val="tx1"/>
                </a:solidFill>
                <a:effectLst/>
                <a:latin typeface="+mn-lt"/>
                <a:ea typeface="+mn-ea"/>
                <a:cs typeface="+mn-cs"/>
              </a:rPr>
              <a:t> zurück.</a:t>
            </a:r>
          </a:p>
          <a:p>
            <a:r>
              <a:rPr lang="de-CH" sz="1200" b="0" i="0" kern="1200" dirty="0">
                <a:solidFill>
                  <a:schemeClr val="tx1"/>
                </a:solidFill>
                <a:effectLst/>
                <a:latin typeface="+mn-lt"/>
                <a:ea typeface="+mn-ea"/>
                <a:cs typeface="+mn-cs"/>
              </a:rPr>
              <a:t>Damit übergebe ich nochmal an Roberto für das Fazit.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Vier zentrale </a:t>
            </a:r>
            <a:r>
              <a:rPr lang="de-CH" sz="1200" b="0" i="0" kern="1200" dirty="0" err="1">
                <a:solidFill>
                  <a:schemeClr val="tx1"/>
                </a:solidFill>
                <a:effectLst/>
                <a:latin typeface="+mn-lt"/>
                <a:ea typeface="+mn-ea"/>
                <a:cs typeface="+mn-cs"/>
              </a:rPr>
              <a:t>Learnings</a:t>
            </a:r>
            <a:r>
              <a:rPr lang="de-CH" sz="1200" b="0" i="0" kern="1200" dirty="0">
                <a:solidFill>
                  <a:schemeClr val="tx1"/>
                </a:solidFill>
                <a:effectLst/>
                <a:latin typeface="+mn-lt"/>
                <a:ea typeface="+mn-ea"/>
                <a:cs typeface="+mn-cs"/>
              </a:rPr>
              <a:t>: Erstens – MOM ermöglicht asynchrone Kommunikation, ohne dass alle gleichzeitig online sein müssen. Zweitens – Topic versus Queue ist die fundamentale Architekturentscheidung. Drittens – Durable </a:t>
            </a:r>
            <a:r>
              <a:rPr lang="de-CH" sz="1200" b="0" i="0" kern="1200" dirty="0" err="1">
                <a:solidFill>
                  <a:schemeClr val="tx1"/>
                </a:solidFill>
                <a:effectLst/>
                <a:latin typeface="+mn-lt"/>
                <a:ea typeface="+mn-ea"/>
                <a:cs typeface="+mn-cs"/>
              </a:rPr>
              <a:t>Subscriptions</a:t>
            </a:r>
            <a:r>
              <a:rPr lang="de-CH" sz="1200" b="0" i="0" kern="1200" dirty="0">
                <a:solidFill>
                  <a:schemeClr val="tx1"/>
                </a:solidFill>
                <a:effectLst/>
                <a:latin typeface="+mn-lt"/>
                <a:ea typeface="+mn-ea"/>
                <a:cs typeface="+mn-cs"/>
              </a:rPr>
              <a:t> sind essentiell für mobile Szenarien. Und viertens – mit Spring Boot und </a:t>
            </a:r>
            <a:r>
              <a:rPr lang="de-CH" sz="1200" b="0" i="0" kern="1200" dirty="0" err="1">
                <a:solidFill>
                  <a:schemeClr val="tx1"/>
                </a:solidFill>
                <a:effectLst/>
                <a:latin typeface="+mn-lt"/>
                <a:ea typeface="+mn-ea"/>
                <a:cs typeface="+mn-cs"/>
              </a:rPr>
              <a:t>ActiveMQ</a:t>
            </a:r>
            <a:r>
              <a:rPr lang="de-CH" sz="1200" b="0" i="0" kern="1200" dirty="0">
                <a:solidFill>
                  <a:schemeClr val="tx1"/>
                </a:solidFill>
                <a:effectLst/>
                <a:latin typeface="+mn-lt"/>
                <a:ea typeface="+mn-ea"/>
                <a:cs typeface="+mn-cs"/>
              </a:rPr>
              <a:t> ist das erstaunlich schlank. Zwei Klassen, rund 70 Zeilen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C7293"/>
          </a:solidFill>
          <a:ln/>
        </p:spPr>
        <p:txBody>
          <a:bodyPr/>
          <a:lstStyle/>
          <a:p>
            <a:endParaRPr lang="de-DE"/>
          </a:p>
        </p:txBody>
      </p:sp>
      <p:sp>
        <p:nvSpPr>
          <p:cNvPr id="3" name="Text 1"/>
          <p:cNvSpPr/>
          <p:nvPr/>
        </p:nvSpPr>
        <p:spPr>
          <a:xfrm>
            <a:off x="731520" y="914400"/>
            <a:ext cx="7680960" cy="365760"/>
          </a:xfrm>
          <a:prstGeom prst="rect">
            <a:avLst/>
          </a:prstGeom>
          <a:noFill/>
          <a:ln/>
        </p:spPr>
        <p:txBody>
          <a:bodyPr wrap="square" rtlCol="0" anchor="ctr"/>
          <a:lstStyle/>
          <a:p>
            <a:pPr marL="0" indent="0">
              <a:buNone/>
            </a:pPr>
            <a:r>
              <a:rPr lang="en-US" sz="1100" kern="0" spc="200" dirty="0">
                <a:solidFill>
                  <a:srgbClr val="1C7293"/>
                </a:solidFill>
                <a:latin typeface="Calibri" pitchFamily="34" charset="0"/>
                <a:ea typeface="Calibri" pitchFamily="34" charset="-122"/>
                <a:cs typeface="Calibri" pitchFamily="34" charset="-120"/>
              </a:rPr>
              <a:t>FHNW  |  Software Architecture FS26  |  Dr. Marc Schaaf</a:t>
            </a:r>
            <a:endParaRPr lang="en-US" sz="1100" dirty="0"/>
          </a:p>
        </p:txBody>
      </p:sp>
      <p:sp>
        <p:nvSpPr>
          <p:cNvPr id="4" name="Text 2"/>
          <p:cNvSpPr/>
          <p:nvPr/>
        </p:nvSpPr>
        <p:spPr>
          <a:xfrm>
            <a:off x="731520" y="1463040"/>
            <a:ext cx="7680960" cy="10972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Case 3 – Enterprise Messaging</a:t>
            </a:r>
            <a:endParaRPr lang="en-US" sz="4000" dirty="0"/>
          </a:p>
        </p:txBody>
      </p:sp>
      <p:sp>
        <p:nvSpPr>
          <p:cNvPr id="5" name="Text 3"/>
          <p:cNvSpPr/>
          <p:nvPr/>
        </p:nvSpPr>
        <p:spPr>
          <a:xfrm>
            <a:off x="731520" y="2651760"/>
            <a:ext cx="7680960" cy="822960"/>
          </a:xfrm>
          <a:prstGeom prst="rect">
            <a:avLst/>
          </a:prstGeom>
          <a:noFill/>
          <a:ln/>
        </p:spPr>
        <p:txBody>
          <a:bodyPr wrap="square" rtlCol="0" anchor="ctr"/>
          <a:lstStyle/>
          <a:p>
            <a:pPr marL="0" indent="0">
              <a:lnSpc>
                <a:spcPct val="130000"/>
              </a:lnSpc>
              <a:buNone/>
            </a:pPr>
            <a:r>
              <a:rPr lang="en-US" sz="1800" dirty="0">
                <a:solidFill>
                  <a:srgbClr val="CBD5E1"/>
                </a:solidFill>
                <a:latin typeface="Calibri" pitchFamily="34" charset="0"/>
                <a:ea typeface="Calibri" pitchFamily="34" charset="-122"/>
                <a:cs typeface="Calibri" pitchFamily="34" charset="-120"/>
              </a:rPr>
              <a:t>Asynchrone Kommunikation mit Apache ActiveMQ</a:t>
            </a:r>
            <a:endParaRPr lang="en-US" sz="1800" dirty="0"/>
          </a:p>
          <a:p>
            <a:pPr marL="0" indent="0">
              <a:lnSpc>
                <a:spcPct val="130000"/>
              </a:lnSpc>
              <a:buNone/>
            </a:pPr>
            <a:r>
              <a:rPr lang="en-US" sz="1800" dirty="0">
                <a:solidFill>
                  <a:srgbClr val="CBD5E1"/>
                </a:solidFill>
                <a:latin typeface="Calibri" pitchFamily="34" charset="0"/>
                <a:ea typeface="Calibri" pitchFamily="34" charset="-122"/>
                <a:cs typeface="Calibri" pitchFamily="34" charset="-120"/>
              </a:rPr>
              <a:t>und Enterprise Integration Patterns</a:t>
            </a:r>
            <a:endParaRPr lang="en-US" sz="1800" dirty="0"/>
          </a:p>
        </p:txBody>
      </p:sp>
      <p:sp>
        <p:nvSpPr>
          <p:cNvPr id="6" name="Shape 4"/>
          <p:cNvSpPr/>
          <p:nvPr/>
        </p:nvSpPr>
        <p:spPr>
          <a:xfrm>
            <a:off x="731520" y="3749040"/>
            <a:ext cx="2286000" cy="0"/>
          </a:xfrm>
          <a:prstGeom prst="line">
            <a:avLst/>
          </a:prstGeom>
          <a:noFill/>
          <a:ln w="25400">
            <a:solidFill>
              <a:srgbClr val="1C7293"/>
            </a:solidFill>
            <a:prstDash val="solid"/>
          </a:ln>
        </p:spPr>
        <p:txBody>
          <a:bodyPr/>
          <a:lstStyle/>
          <a:p>
            <a:endParaRPr lang="de-DE"/>
          </a:p>
        </p:txBody>
      </p:sp>
      <p:sp>
        <p:nvSpPr>
          <p:cNvPr id="7" name="Text 5"/>
          <p:cNvSpPr/>
          <p:nvPr/>
        </p:nvSpPr>
        <p:spPr>
          <a:xfrm>
            <a:off x="731520" y="4023360"/>
            <a:ext cx="7680960" cy="45720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Gruppe 4:  Roberto Panizza  &amp;  Loris Trifoglio</a:t>
            </a:r>
            <a:endParaRPr lang="en-US" sz="1500" dirty="0"/>
          </a:p>
        </p:txBody>
      </p:sp>
      <p:sp>
        <p:nvSpPr>
          <p:cNvPr id="8" name="Shape 6"/>
          <p:cNvSpPr/>
          <p:nvPr/>
        </p:nvSpPr>
        <p:spPr>
          <a:xfrm>
            <a:off x="0" y="4960620"/>
            <a:ext cx="9144000" cy="182880"/>
          </a:xfrm>
          <a:prstGeom prst="rect">
            <a:avLst/>
          </a:prstGeom>
          <a:solidFill>
            <a:srgbClr val="065A82"/>
          </a:solidFill>
          <a:ln/>
        </p:spPr>
        <p:txBody>
          <a:bodyPr/>
          <a:lstStyle/>
          <a:p>
            <a:endParaRPr lang="de-D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200" b="1" dirty="0">
                <a:solidFill>
                  <a:srgbClr val="0F1B2D"/>
                </a:solidFill>
                <a:latin typeface="Georgia" pitchFamily="34" charset="0"/>
                <a:ea typeface="Georgia" pitchFamily="34" charset="-122"/>
                <a:cs typeface="Georgia" pitchFamily="34" charset="-120"/>
              </a:rPr>
              <a:t>Agenda</a:t>
            </a:r>
            <a:endParaRPr lang="en-US" sz="3200" dirty="0"/>
          </a:p>
        </p:txBody>
      </p:sp>
      <p:sp>
        <p:nvSpPr>
          <p:cNvPr id="3" name="Shape 1"/>
          <p:cNvSpPr/>
          <p:nvPr/>
        </p:nvSpPr>
        <p:spPr>
          <a:xfrm>
            <a:off x="731520" y="1325880"/>
            <a:ext cx="384048" cy="384048"/>
          </a:xfrm>
          <a:prstGeom prst="ellipse">
            <a:avLst/>
          </a:prstGeom>
          <a:solidFill>
            <a:srgbClr val="065A82"/>
          </a:solidFill>
          <a:ln/>
        </p:spPr>
        <p:txBody>
          <a:bodyPr/>
          <a:lstStyle/>
          <a:p>
            <a:endParaRPr lang="de-DE"/>
          </a:p>
        </p:txBody>
      </p:sp>
      <p:sp>
        <p:nvSpPr>
          <p:cNvPr id="4" name="Text 2"/>
          <p:cNvSpPr/>
          <p:nvPr/>
        </p:nvSpPr>
        <p:spPr>
          <a:xfrm>
            <a:off x="731520" y="132588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5" name="Text 3"/>
          <p:cNvSpPr/>
          <p:nvPr/>
        </p:nvSpPr>
        <p:spPr>
          <a:xfrm>
            <a:off x="1371600" y="1261872"/>
            <a:ext cx="2743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Problemstellung</a:t>
            </a:r>
            <a:endParaRPr lang="en-US" sz="1600" dirty="0"/>
          </a:p>
        </p:txBody>
      </p:sp>
      <p:sp>
        <p:nvSpPr>
          <p:cNvPr id="6" name="Text 4"/>
          <p:cNvSpPr/>
          <p:nvPr/>
        </p:nvSpPr>
        <p:spPr>
          <a:xfrm>
            <a:off x="1371600" y="1536192"/>
            <a:ext cx="64008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Das Szenario und warum synchrone Kommunikation nicht reicht</a:t>
            </a:r>
            <a:endParaRPr lang="en-US" sz="1200" dirty="0"/>
          </a:p>
        </p:txBody>
      </p:sp>
      <p:sp>
        <p:nvSpPr>
          <p:cNvPr id="7" name="Shape 5"/>
          <p:cNvSpPr/>
          <p:nvPr/>
        </p:nvSpPr>
        <p:spPr>
          <a:xfrm>
            <a:off x="731520" y="1920240"/>
            <a:ext cx="384048" cy="384048"/>
          </a:xfrm>
          <a:prstGeom prst="ellipse">
            <a:avLst/>
          </a:prstGeom>
          <a:solidFill>
            <a:srgbClr val="065A82"/>
          </a:solidFill>
          <a:ln/>
        </p:spPr>
        <p:txBody>
          <a:bodyPr/>
          <a:lstStyle/>
          <a:p>
            <a:endParaRPr lang="de-DE"/>
          </a:p>
        </p:txBody>
      </p:sp>
      <p:sp>
        <p:nvSpPr>
          <p:cNvPr id="8" name="Text 6"/>
          <p:cNvSpPr/>
          <p:nvPr/>
        </p:nvSpPr>
        <p:spPr>
          <a:xfrm>
            <a:off x="731520" y="192024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9" name="Text 7"/>
          <p:cNvSpPr/>
          <p:nvPr/>
        </p:nvSpPr>
        <p:spPr>
          <a:xfrm>
            <a:off x="1371600" y="1856232"/>
            <a:ext cx="2743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Konzepte</a:t>
            </a:r>
            <a:endParaRPr lang="en-US" sz="1600" dirty="0"/>
          </a:p>
        </p:txBody>
      </p:sp>
      <p:sp>
        <p:nvSpPr>
          <p:cNvPr id="10" name="Text 8"/>
          <p:cNvSpPr/>
          <p:nvPr/>
        </p:nvSpPr>
        <p:spPr>
          <a:xfrm>
            <a:off x="1371600" y="2130552"/>
            <a:ext cx="64008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MOM, Message Broker, Topic vs. Queue</a:t>
            </a:r>
            <a:endParaRPr lang="en-US" sz="1200" dirty="0"/>
          </a:p>
        </p:txBody>
      </p:sp>
      <p:sp>
        <p:nvSpPr>
          <p:cNvPr id="11" name="Shape 9"/>
          <p:cNvSpPr/>
          <p:nvPr/>
        </p:nvSpPr>
        <p:spPr>
          <a:xfrm>
            <a:off x="731520" y="2514600"/>
            <a:ext cx="384048" cy="384048"/>
          </a:xfrm>
          <a:prstGeom prst="ellipse">
            <a:avLst/>
          </a:prstGeom>
          <a:solidFill>
            <a:srgbClr val="065A82"/>
          </a:solidFill>
          <a:ln/>
        </p:spPr>
        <p:txBody>
          <a:bodyPr/>
          <a:lstStyle/>
          <a:p>
            <a:endParaRPr lang="de-DE"/>
          </a:p>
        </p:txBody>
      </p:sp>
      <p:sp>
        <p:nvSpPr>
          <p:cNvPr id="12" name="Text 10"/>
          <p:cNvSpPr/>
          <p:nvPr/>
        </p:nvSpPr>
        <p:spPr>
          <a:xfrm>
            <a:off x="731520" y="251460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3" name="Text 11"/>
          <p:cNvSpPr/>
          <p:nvPr/>
        </p:nvSpPr>
        <p:spPr>
          <a:xfrm>
            <a:off x="1371600" y="2450592"/>
            <a:ext cx="2743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Enterprise Integration Patterns</a:t>
            </a:r>
            <a:endParaRPr lang="en-US" sz="1600" dirty="0"/>
          </a:p>
        </p:txBody>
      </p:sp>
      <p:sp>
        <p:nvSpPr>
          <p:cNvPr id="14" name="Text 12"/>
          <p:cNvSpPr/>
          <p:nvPr/>
        </p:nvSpPr>
        <p:spPr>
          <a:xfrm>
            <a:off x="1371600" y="2724912"/>
            <a:ext cx="64008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Die relevanten Patterns für unseren Case</a:t>
            </a:r>
            <a:endParaRPr lang="en-US" sz="1200" dirty="0"/>
          </a:p>
        </p:txBody>
      </p:sp>
      <p:sp>
        <p:nvSpPr>
          <p:cNvPr id="15" name="Shape 13"/>
          <p:cNvSpPr/>
          <p:nvPr/>
        </p:nvSpPr>
        <p:spPr>
          <a:xfrm>
            <a:off x="731520" y="3108960"/>
            <a:ext cx="384048" cy="384048"/>
          </a:xfrm>
          <a:prstGeom prst="ellipse">
            <a:avLst/>
          </a:prstGeom>
          <a:solidFill>
            <a:srgbClr val="065A82"/>
          </a:solidFill>
          <a:ln/>
        </p:spPr>
        <p:txBody>
          <a:bodyPr/>
          <a:lstStyle/>
          <a:p>
            <a:endParaRPr lang="de-DE"/>
          </a:p>
        </p:txBody>
      </p:sp>
      <p:sp>
        <p:nvSpPr>
          <p:cNvPr id="16" name="Text 14"/>
          <p:cNvSpPr/>
          <p:nvPr/>
        </p:nvSpPr>
        <p:spPr>
          <a:xfrm>
            <a:off x="731520" y="310896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7" name="Text 15"/>
          <p:cNvSpPr/>
          <p:nvPr/>
        </p:nvSpPr>
        <p:spPr>
          <a:xfrm>
            <a:off x="1371600" y="3044952"/>
            <a:ext cx="2743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Lösungsarchitektur</a:t>
            </a:r>
            <a:endParaRPr lang="en-US" sz="1600" dirty="0"/>
          </a:p>
        </p:txBody>
      </p:sp>
      <p:sp>
        <p:nvSpPr>
          <p:cNvPr id="18" name="Text 16"/>
          <p:cNvSpPr/>
          <p:nvPr/>
        </p:nvSpPr>
        <p:spPr>
          <a:xfrm>
            <a:off x="1371600" y="3319272"/>
            <a:ext cx="64008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Vollständiges EIP-Lösungskonzept</a:t>
            </a:r>
            <a:endParaRPr lang="en-US" sz="1200" dirty="0"/>
          </a:p>
        </p:txBody>
      </p:sp>
      <p:sp>
        <p:nvSpPr>
          <p:cNvPr id="19" name="Shape 17"/>
          <p:cNvSpPr/>
          <p:nvPr/>
        </p:nvSpPr>
        <p:spPr>
          <a:xfrm>
            <a:off x="731520" y="3703320"/>
            <a:ext cx="384048" cy="384048"/>
          </a:xfrm>
          <a:prstGeom prst="ellipse">
            <a:avLst/>
          </a:prstGeom>
          <a:solidFill>
            <a:srgbClr val="065A82"/>
          </a:solidFill>
          <a:ln/>
        </p:spPr>
        <p:txBody>
          <a:bodyPr/>
          <a:lstStyle/>
          <a:p>
            <a:endParaRPr lang="de-DE"/>
          </a:p>
        </p:txBody>
      </p:sp>
      <p:sp>
        <p:nvSpPr>
          <p:cNvPr id="20" name="Text 18"/>
          <p:cNvSpPr/>
          <p:nvPr/>
        </p:nvSpPr>
        <p:spPr>
          <a:xfrm>
            <a:off x="731520" y="370332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1" name="Text 19"/>
          <p:cNvSpPr/>
          <p:nvPr/>
        </p:nvSpPr>
        <p:spPr>
          <a:xfrm>
            <a:off x="1371600" y="3639312"/>
            <a:ext cx="2743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Technische Umsetzung</a:t>
            </a:r>
            <a:endParaRPr lang="en-US" sz="1600" dirty="0"/>
          </a:p>
        </p:txBody>
      </p:sp>
      <p:sp>
        <p:nvSpPr>
          <p:cNvPr id="22" name="Text 20"/>
          <p:cNvSpPr/>
          <p:nvPr/>
        </p:nvSpPr>
        <p:spPr>
          <a:xfrm>
            <a:off x="1371600" y="3913632"/>
            <a:ext cx="64008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Spring Boot, ActiveMQ, Code-Walkthrough</a:t>
            </a:r>
            <a:endParaRPr lang="en-US" sz="1200" dirty="0"/>
          </a:p>
        </p:txBody>
      </p:sp>
      <p:sp>
        <p:nvSpPr>
          <p:cNvPr id="23" name="Shape 21"/>
          <p:cNvSpPr/>
          <p:nvPr/>
        </p:nvSpPr>
        <p:spPr>
          <a:xfrm>
            <a:off x="731520" y="4297680"/>
            <a:ext cx="384048" cy="384048"/>
          </a:xfrm>
          <a:prstGeom prst="ellipse">
            <a:avLst/>
          </a:prstGeom>
          <a:solidFill>
            <a:srgbClr val="065A82"/>
          </a:solidFill>
          <a:ln/>
        </p:spPr>
        <p:txBody>
          <a:bodyPr/>
          <a:lstStyle/>
          <a:p>
            <a:endParaRPr lang="de-DE"/>
          </a:p>
        </p:txBody>
      </p:sp>
      <p:sp>
        <p:nvSpPr>
          <p:cNvPr id="24" name="Text 22"/>
          <p:cNvSpPr/>
          <p:nvPr/>
        </p:nvSpPr>
        <p:spPr>
          <a:xfrm>
            <a:off x="731520" y="429768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5" name="Text 23"/>
          <p:cNvSpPr/>
          <p:nvPr/>
        </p:nvSpPr>
        <p:spPr>
          <a:xfrm>
            <a:off x="1371600" y="4233672"/>
            <a:ext cx="2743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Live-Demo</a:t>
            </a:r>
            <a:endParaRPr lang="en-US" sz="1600" dirty="0"/>
          </a:p>
        </p:txBody>
      </p:sp>
      <p:sp>
        <p:nvSpPr>
          <p:cNvPr id="26" name="Text 24"/>
          <p:cNvSpPr/>
          <p:nvPr/>
        </p:nvSpPr>
        <p:spPr>
          <a:xfrm>
            <a:off x="1371600" y="4507992"/>
            <a:ext cx="64008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Der Nachrichtenkreislauf in Aktion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itle"/>
          <p:cNvSpPr/>
          <p:nvPr/>
        </p:nvSpPr>
        <p:spPr>
          <a:xfrm>
            <a:off x="731520" y="365760"/>
            <a:ext cx="7680960" cy="640080"/>
          </a:xfrm>
          <a:prstGeom prst="rect">
            <a:avLst/>
          </a:prstGeom>
          <a:noFill/>
          <a:ln/>
        </p:spPr>
        <p:txBody>
          <a:bodyPr wrap="square" lIns="0" tIns="0" rIns="0" bIns="0" rtlCol="0" anchor="ctr"/>
          <a:lstStyle/>
          <a:p>
            <a:pPr marL="0" indent="0">
              <a:buNone/>
            </a:pPr>
            <a:r>
              <a:rPr lang="de-DE" sz="3200" b="1" dirty="0">
                <a:solidFill>
                  <a:srgbClr val="0F1B2D"/>
                </a:solidFill>
                <a:latin typeface="Georgia" pitchFamily="34" charset="0"/>
                <a:ea typeface="Georgia" pitchFamily="34" charset="-122"/>
                <a:cs typeface="Georgia" pitchFamily="34" charset="-120"/>
              </a:rPr>
              <a:t>Ausgangslage</a:t>
            </a:r>
            <a:endParaRPr lang="de-DE" sz="3200" dirty="0"/>
          </a:p>
        </p:txBody>
      </p:sp>
      <p:sp>
        <p:nvSpPr>
          <p:cNvPr id="10" name="CardBgLeft"/>
          <p:cNvSpPr/>
          <p:nvPr/>
        </p:nvSpPr>
        <p:spPr>
          <a:xfrm>
            <a:off x="731520" y="1097280"/>
            <a:ext cx="3748400" cy="3017520"/>
          </a:xfrm>
          <a:prstGeom prst="roundRect">
            <a:avLst>
              <a:gd name="adj" fmla="val 3000"/>
            </a:avLst>
          </a:prstGeom>
          <a:solidFill>
            <a:srgbClr val="FFFFFF"/>
          </a:solidFill>
          <a:ln w="12700">
            <a:solidFill>
              <a:srgbClr val="E2E8F0"/>
            </a:solidFill>
          </a:ln>
          <a:effectLst>
            <a:outerShdw blurRad="50800" dist="25400" dir="8100000" algn="bl" rotWithShape="0">
              <a:srgbClr val="000000">
                <a:alpha val="8000"/>
              </a:srgbClr>
            </a:outerShdw>
          </a:effectLst>
        </p:spPr>
        <p:txBody>
          <a:bodyPr/>
          <a:lstStyle/>
          <a:p>
            <a:endParaRPr lang="de-DE"/>
          </a:p>
        </p:txBody>
      </p:sp>
      <p:sp>
        <p:nvSpPr>
          <p:cNvPr id="3" name="HeaderLeft"/>
          <p:cNvSpPr/>
          <p:nvPr/>
        </p:nvSpPr>
        <p:spPr>
          <a:xfrm>
            <a:off x="914400" y="1188720"/>
            <a:ext cx="3382960" cy="365760"/>
          </a:xfrm>
          <a:prstGeom prst="rect">
            <a:avLst/>
          </a:prstGeom>
          <a:noFill/>
          <a:ln/>
        </p:spPr>
        <p:txBody>
          <a:bodyPr wrap="square" lIns="0" tIns="0" rIns="0" bIns="0" rtlCol="0" anchor="ctr"/>
          <a:lstStyle/>
          <a:p>
            <a:pPr marL="0" indent="0">
              <a:buNone/>
            </a:pPr>
            <a:r>
              <a:rPr lang="de-DE" sz="1800" b="1" dirty="0">
                <a:solidFill>
                  <a:srgbClr val="DC2626"/>
                </a:solidFill>
                <a:latin typeface="Calibri" pitchFamily="34" charset="0"/>
                <a:ea typeface="Calibri" pitchFamily="34" charset="-122"/>
                <a:cs typeface="Calibri" pitchFamily="34" charset="-120"/>
              </a:rPr>
              <a:t>Ist-Zustand</a:t>
            </a:r>
            <a:endParaRPr lang="de-DE" sz="1800" dirty="0"/>
          </a:p>
        </p:txBody>
      </p:sp>
      <p:sp>
        <p:nvSpPr>
          <p:cNvPr id="4" name="ContentLeft"/>
          <p:cNvSpPr/>
          <p:nvPr/>
        </p:nvSpPr>
        <p:spPr>
          <a:xfrm>
            <a:off x="914400" y="1600200"/>
            <a:ext cx="3382960" cy="2377440"/>
          </a:xfrm>
          <a:prstGeom prst="rect">
            <a:avLst/>
          </a:prstGeom>
          <a:noFill/>
          <a:ln/>
        </p:spPr>
        <p:txBody>
          <a:bodyPr wrap="square" rtlCol="0" anchor="t"/>
          <a:lstStyle/>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Statische Planung durch die Dispositionsabteilung</a:t>
            </a:r>
          </a:p>
          <a:p>
            <a:pPr marL="0" indent="0">
              <a:buNone/>
            </a:pPr>
            <a:endParaRPr lang="de-DE" sz="800" dirty="0"/>
          </a:p>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Alle Aufträge werden zentral koordiniert</a:t>
            </a:r>
          </a:p>
          <a:p>
            <a:pPr marL="0" indent="0">
              <a:buNone/>
            </a:pPr>
            <a:endParaRPr lang="de-DE" sz="800" dirty="0"/>
          </a:p>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Aussendienst hat keine Flexibilität</a:t>
            </a:r>
          </a:p>
          <a:p>
            <a:pPr marL="0" indent="0">
              <a:buNone/>
            </a:pPr>
            <a:endParaRPr lang="de-DE" sz="800" dirty="0"/>
          </a:p>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Leerlaufzeiten werden nicht dynamisch genutzt</a:t>
            </a:r>
          </a:p>
        </p:txBody>
      </p:sp>
      <p:sp>
        <p:nvSpPr>
          <p:cNvPr id="11" name="CardBgRight"/>
          <p:cNvSpPr/>
          <p:nvPr/>
        </p:nvSpPr>
        <p:spPr>
          <a:xfrm>
            <a:off x="4663440" y="1097280"/>
            <a:ext cx="3748400" cy="3017520"/>
          </a:xfrm>
          <a:prstGeom prst="roundRect">
            <a:avLst>
              <a:gd name="adj" fmla="val 3000"/>
            </a:avLst>
          </a:prstGeom>
          <a:solidFill>
            <a:srgbClr val="FFFFFF"/>
          </a:solidFill>
          <a:ln w="12700">
            <a:solidFill>
              <a:srgbClr val="E2E8F0"/>
            </a:solidFill>
          </a:ln>
          <a:effectLst>
            <a:outerShdw blurRad="50800" dist="25400" dir="8100000" algn="bl" rotWithShape="0">
              <a:srgbClr val="000000">
                <a:alpha val="8000"/>
              </a:srgbClr>
            </a:outerShdw>
          </a:effectLst>
        </p:spPr>
        <p:txBody>
          <a:bodyPr/>
          <a:lstStyle/>
          <a:p>
            <a:endParaRPr lang="de-DE"/>
          </a:p>
        </p:txBody>
      </p:sp>
      <p:sp>
        <p:nvSpPr>
          <p:cNvPr id="5" name="HeaderRight"/>
          <p:cNvSpPr/>
          <p:nvPr/>
        </p:nvSpPr>
        <p:spPr>
          <a:xfrm>
            <a:off x="4846320" y="1188720"/>
            <a:ext cx="3382960" cy="365760"/>
          </a:xfrm>
          <a:prstGeom prst="rect">
            <a:avLst/>
          </a:prstGeom>
          <a:noFill/>
          <a:ln/>
        </p:spPr>
        <p:txBody>
          <a:bodyPr wrap="square" lIns="0" tIns="0" rIns="0" bIns="0" rtlCol="0" anchor="ctr"/>
          <a:lstStyle/>
          <a:p>
            <a:pPr marL="0" indent="0">
              <a:buNone/>
            </a:pPr>
            <a:r>
              <a:rPr lang="de-DE" sz="1800" b="1" dirty="0">
                <a:solidFill>
                  <a:srgbClr val="16A34A"/>
                </a:solidFill>
                <a:latin typeface="Calibri" pitchFamily="34" charset="0"/>
                <a:ea typeface="Calibri" pitchFamily="34" charset="-122"/>
                <a:cs typeface="Calibri" pitchFamily="34" charset="-120"/>
              </a:rPr>
              <a:t>Soll-Zustand</a:t>
            </a:r>
            <a:endParaRPr lang="de-DE" sz="1800" dirty="0"/>
          </a:p>
        </p:txBody>
      </p:sp>
      <p:sp>
        <p:nvSpPr>
          <p:cNvPr id="6" name="ContentRight"/>
          <p:cNvSpPr/>
          <p:nvPr/>
        </p:nvSpPr>
        <p:spPr>
          <a:xfrm>
            <a:off x="4846320" y="1600200"/>
            <a:ext cx="3382960" cy="2377440"/>
          </a:xfrm>
          <a:prstGeom prst="rect">
            <a:avLst/>
          </a:prstGeom>
          <a:noFill/>
          <a:ln/>
        </p:spPr>
        <p:txBody>
          <a:bodyPr wrap="square" rtlCol="0" anchor="t"/>
          <a:lstStyle/>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Dynamische Auftragsannahme durch Aussendienst</a:t>
            </a:r>
          </a:p>
          <a:p>
            <a:pPr marL="0" indent="0">
              <a:buNone/>
            </a:pPr>
            <a:endParaRPr lang="de-DE" sz="800" dirty="0"/>
          </a:p>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Unterscheidung: Routine vs. Dringend</a:t>
            </a:r>
          </a:p>
          <a:p>
            <a:pPr marL="0" indent="0">
              <a:buNone/>
            </a:pPr>
            <a:endParaRPr lang="de-DE" sz="800" dirty="0"/>
          </a:p>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Routineaufträge werden publiziert, Mitarbeitende nehmen selbst an</a:t>
            </a:r>
          </a:p>
          <a:p>
            <a:pPr marL="0" indent="0">
              <a:buNone/>
            </a:pPr>
            <a:endParaRPr lang="de-DE" sz="800" dirty="0"/>
          </a:p>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Leerlaufzeiten werden effizient genutzt</a:t>
            </a:r>
          </a:p>
        </p:txBody>
      </p:sp>
      <p:sp>
        <p:nvSpPr>
          <p:cNvPr id="12" name="Arrow"/>
          <p:cNvSpPr/>
          <p:nvPr/>
        </p:nvSpPr>
        <p:spPr>
          <a:xfrm>
            <a:off x="4389120" y="2377440"/>
            <a:ext cx="365760" cy="365760"/>
          </a:xfrm>
          <a:prstGeom prst="rightArrow">
            <a:avLst>
              <a:gd name="adj1" fmla="val 50000"/>
              <a:gd name="adj2" fmla="val 50000"/>
            </a:avLst>
          </a:prstGeom>
          <a:solidFill>
            <a:srgbClr val="F59E0B"/>
          </a:solidFill>
          <a:ln>
            <a:noFill/>
          </a:ln>
        </p:spPr>
        <p:txBody>
          <a:bodyPr/>
          <a:lstStyle/>
          <a:p>
            <a:endParaRPr lang="de-DE"/>
          </a:p>
        </p:txBody>
      </p:sp>
      <p:sp>
        <p:nvSpPr>
          <p:cNvPr id="7" name="BottomBar"/>
          <p:cNvSpPr/>
          <p:nvPr/>
        </p:nvSpPr>
        <p:spPr>
          <a:xfrm>
            <a:off x="731520" y="4297680"/>
            <a:ext cx="7680960" cy="502920"/>
          </a:xfrm>
          <a:prstGeom prst="rect">
            <a:avLst/>
          </a:prstGeom>
          <a:solidFill>
            <a:srgbClr val="065A82"/>
          </a:solidFill>
          <a:ln/>
        </p:spPr>
        <p:txBody>
          <a:bodyPr/>
          <a:lstStyle/>
          <a:p>
            <a:endParaRPr lang="de-DE"/>
          </a:p>
        </p:txBody>
      </p:sp>
      <p:sp>
        <p:nvSpPr>
          <p:cNvPr id="8" name="BottomText"/>
          <p:cNvSpPr/>
          <p:nvPr/>
        </p:nvSpPr>
        <p:spPr>
          <a:xfrm>
            <a:off x="1005840" y="4297680"/>
            <a:ext cx="7406640" cy="502920"/>
          </a:xfrm>
          <a:prstGeom prst="rect">
            <a:avLst/>
          </a:prstGeom>
          <a:noFill/>
          <a:ln/>
        </p:spPr>
        <p:txBody>
          <a:bodyPr wrap="square" rtlCol="0" anchor="ctr"/>
          <a:lstStyle/>
          <a:p>
            <a:pPr marL="0" indent="0">
              <a:buNone/>
            </a:pPr>
            <a:r>
              <a:rPr lang="de-DE" sz="1300" b="1" i="1" dirty="0">
                <a:solidFill>
                  <a:srgbClr val="FFFFFF"/>
                </a:solidFill>
                <a:latin typeface="Calibri" pitchFamily="34" charset="0"/>
                <a:ea typeface="Calibri" pitchFamily="34" charset="-122"/>
                <a:cs typeface="Calibri" pitchFamily="34" charset="-120"/>
              </a:rPr>
              <a:t>Accolaia AG: Neues Dispositionskonzept – Routineaufträge dynamisch, Reparaturen weiterhin zentral koordiniert.</a:t>
            </a:r>
            <a:endParaRPr lang="de-DE"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200" b="1" dirty="0">
                <a:solidFill>
                  <a:srgbClr val="0F1B2D"/>
                </a:solidFill>
                <a:latin typeface="Georgia" pitchFamily="34" charset="0"/>
                <a:ea typeface="Georgia" pitchFamily="34" charset="-122"/>
                <a:cs typeface="Georgia" pitchFamily="34" charset="-120"/>
              </a:rPr>
              <a:t>Problemstellung</a:t>
            </a:r>
            <a:endParaRPr lang="en-US" sz="3200" dirty="0"/>
          </a:p>
        </p:txBody>
      </p:sp>
      <p:sp>
        <p:nvSpPr>
          <p:cNvPr id="3" name="Text 1"/>
          <p:cNvSpPr/>
          <p:nvPr/>
        </p:nvSpPr>
        <p:spPr>
          <a:xfrm>
            <a:off x="731520" y="1097280"/>
            <a:ext cx="4389120" cy="3200400"/>
          </a:xfrm>
          <a:prstGeom prst="rect">
            <a:avLst/>
          </a:prstGeom>
          <a:noFill/>
          <a:ln/>
        </p:spPr>
        <p:txBody>
          <a:bodyPr wrap="square" rtlCol="0" anchor="t"/>
          <a:lstStyle/>
          <a:p>
            <a:pPr marL="0" indent="0">
              <a:buNone/>
            </a:pPr>
            <a:r>
              <a:rPr lang="en-US" sz="1800" b="1" dirty="0">
                <a:solidFill>
                  <a:srgbClr val="065A82"/>
                </a:solidFill>
                <a:latin typeface="Calibri" pitchFamily="34" charset="0"/>
                <a:ea typeface="Calibri" pitchFamily="34" charset="-122"/>
                <a:cs typeface="Calibri" pitchFamily="34" charset="-120"/>
              </a:rPr>
              <a:t>Das Szenario</a:t>
            </a:r>
            <a:endParaRPr lang="en-US" sz="1800" dirty="0"/>
          </a:p>
          <a:p>
            <a:pPr marL="0" indent="0">
              <a:buNone/>
            </a:pPr>
            <a:endParaRPr lang="en-US" sz="1800" dirty="0"/>
          </a:p>
          <a:p>
            <a:pPr marL="0" indent="0">
              <a:buNone/>
            </a:pPr>
            <a:r>
              <a:rPr lang="en-US" sz="1400" dirty="0">
                <a:solidFill>
                  <a:srgbClr val="1E293B"/>
                </a:solidFill>
                <a:latin typeface="Calibri" pitchFamily="34" charset="0"/>
                <a:ea typeface="Calibri" pitchFamily="34" charset="-122"/>
                <a:cs typeface="Calibri" pitchFamily="34" charset="-120"/>
              </a:rPr>
              <a:t>Ein Aussendienst-Unternehmen koordiniert Serviceaufträge zwischen:</a:t>
            </a:r>
            <a:endParaRPr lang="en-US" sz="1800" dirty="0"/>
          </a:p>
          <a:p>
            <a:pPr marL="0" indent="0">
              <a:buNone/>
            </a:pPr>
            <a:endParaRPr lang="en-US" sz="1800" dirty="0"/>
          </a:p>
          <a:p>
            <a:pPr marL="342900" indent="-342900">
              <a:buSzPct val="100000"/>
              <a:buChar char="•"/>
            </a:pPr>
            <a:r>
              <a:rPr lang="en-US" sz="1400" b="1" dirty="0">
                <a:solidFill>
                  <a:srgbClr val="1E293B"/>
                </a:solidFill>
                <a:latin typeface="Calibri" pitchFamily="34" charset="0"/>
                <a:ea typeface="Calibri" pitchFamily="34" charset="-122"/>
                <a:cs typeface="Calibri" pitchFamily="34" charset="-120"/>
              </a:rPr>
              <a:t>Callcenter</a:t>
            </a:r>
            <a:endParaRPr lang="en-US" sz="1800" dirty="0"/>
          </a:p>
          <a:p>
            <a:pPr marL="0" lvl="1" indent="0">
              <a:buNone/>
            </a:pPr>
            <a:r>
              <a:rPr lang="en-US" sz="1200" dirty="0">
                <a:solidFill>
                  <a:srgbClr val="64748B"/>
                </a:solidFill>
                <a:latin typeface="Calibri" pitchFamily="34" charset="0"/>
                <a:ea typeface="Calibri" pitchFamily="34" charset="-122"/>
                <a:cs typeface="Calibri" pitchFamily="34" charset="-120"/>
              </a:rPr>
              <a:t>nimmt Kundenaufträge entgegen</a:t>
            </a:r>
            <a:endParaRPr lang="en-US" sz="1800" dirty="0"/>
          </a:p>
          <a:p>
            <a:pPr marL="0" indent="0">
              <a:buNone/>
            </a:pPr>
            <a:endParaRPr lang="en-US" sz="1800" dirty="0"/>
          </a:p>
          <a:p>
            <a:pPr marL="342900" indent="-342900">
              <a:buSzPct val="100000"/>
              <a:buChar char="•"/>
            </a:pPr>
            <a:r>
              <a:rPr lang="en-US" sz="1400" b="1" dirty="0">
                <a:solidFill>
                  <a:srgbClr val="1E293B"/>
                </a:solidFill>
                <a:latin typeface="Calibri" pitchFamily="34" charset="0"/>
                <a:ea typeface="Calibri" pitchFamily="34" charset="-122"/>
                <a:cs typeface="Calibri" pitchFamily="34" charset="-120"/>
              </a:rPr>
              <a:t>Disposition</a:t>
            </a:r>
            <a:endParaRPr lang="en-US" sz="1800" dirty="0"/>
          </a:p>
          <a:p>
            <a:pPr marL="0" lvl="1" indent="0">
              <a:buNone/>
            </a:pPr>
            <a:r>
              <a:rPr lang="en-US" sz="1200" dirty="0">
                <a:solidFill>
                  <a:srgbClr val="64748B"/>
                </a:solidFill>
                <a:latin typeface="Calibri" pitchFamily="34" charset="0"/>
                <a:ea typeface="Calibri" pitchFamily="34" charset="-122"/>
                <a:cs typeface="Calibri" pitchFamily="34" charset="-120"/>
              </a:rPr>
              <a:t>verteilt und koordiniert Aufträge</a:t>
            </a:r>
            <a:endParaRPr lang="en-US" sz="1800" dirty="0"/>
          </a:p>
          <a:p>
            <a:pPr marL="0" indent="0">
              <a:buNone/>
            </a:pPr>
            <a:endParaRPr lang="en-US" sz="1800" dirty="0"/>
          </a:p>
          <a:p>
            <a:pPr marL="342900" indent="-342900">
              <a:buSzPct val="100000"/>
              <a:buChar char="•"/>
            </a:pPr>
            <a:r>
              <a:rPr lang="en-US" sz="1400" b="1" dirty="0">
                <a:solidFill>
                  <a:srgbClr val="1E293B"/>
                </a:solidFill>
                <a:latin typeface="Calibri" pitchFamily="34" charset="0"/>
                <a:ea typeface="Calibri" pitchFamily="34" charset="-122"/>
                <a:cs typeface="Calibri" pitchFamily="34" charset="-120"/>
              </a:rPr>
              <a:t>Mobile Aussendienstmitarbeiter</a:t>
            </a:r>
            <a:endParaRPr lang="en-US" sz="1800" dirty="0"/>
          </a:p>
          <a:p>
            <a:pPr marL="0" lvl="1" indent="0">
              <a:buNone/>
            </a:pPr>
            <a:r>
              <a:rPr lang="en-US" sz="1200" dirty="0">
                <a:solidFill>
                  <a:srgbClr val="64748B"/>
                </a:solidFill>
                <a:latin typeface="Calibri" pitchFamily="34" charset="0"/>
                <a:ea typeface="Calibri" pitchFamily="34" charset="-122"/>
                <a:cs typeface="Calibri" pitchFamily="34" charset="-120"/>
              </a:rPr>
              <a:t>arbeiten vor Ort beim Kunden</a:t>
            </a:r>
            <a:endParaRPr lang="en-US" sz="1800" dirty="0"/>
          </a:p>
        </p:txBody>
      </p:sp>
      <p:sp>
        <p:nvSpPr>
          <p:cNvPr id="4" name="Shape 2"/>
          <p:cNvSpPr/>
          <p:nvPr/>
        </p:nvSpPr>
        <p:spPr>
          <a:xfrm>
            <a:off x="5486400" y="1097280"/>
            <a:ext cx="3200400" cy="3200400"/>
          </a:xfrm>
          <a:prstGeom prst="rect">
            <a:avLst/>
          </a:prstGeom>
          <a:noFill/>
          <a:ln/>
          <a:effectLst>
            <a:outerShdw blurRad="50800" dist="25400" dir="8100000" algn="bl" rotWithShape="0">
              <a:srgbClr val="000000">
                <a:alpha val="10000"/>
              </a:srgbClr>
            </a:outerShdw>
          </a:effectLst>
        </p:spPr>
        <p:txBody>
          <a:bodyPr/>
          <a:lstStyle/>
          <a:p>
            <a:endParaRPr lang="de-DE"/>
          </a:p>
        </p:txBody>
      </p:sp>
      <p:sp>
        <p:nvSpPr>
          <p:cNvPr id="5" name="Text 3"/>
          <p:cNvSpPr/>
          <p:nvPr/>
        </p:nvSpPr>
        <p:spPr>
          <a:xfrm>
            <a:off x="5120640" y="1097280"/>
            <a:ext cx="2651760" cy="365760"/>
          </a:xfrm>
          <a:prstGeom prst="rect">
            <a:avLst/>
          </a:prstGeom>
          <a:noFill/>
          <a:ln/>
        </p:spPr>
        <p:txBody>
          <a:bodyPr wrap="square" lIns="0" tIns="0" rIns="0" bIns="0" rtlCol="0" anchor="ctr"/>
          <a:lstStyle/>
          <a:p>
            <a:pPr marL="0" indent="0">
              <a:buNone/>
            </a:pPr>
            <a:r>
              <a:rPr lang="en-US" sz="1500" b="1" dirty="0">
                <a:solidFill>
                  <a:srgbClr val="F59E0B"/>
                </a:solidFill>
                <a:latin typeface="Calibri" pitchFamily="34" charset="0"/>
                <a:ea typeface="Calibri" pitchFamily="34" charset="-122"/>
                <a:cs typeface="Calibri" pitchFamily="34" charset="-120"/>
              </a:rPr>
              <a:t>Die Herausforderung</a:t>
            </a:r>
            <a:endParaRPr lang="en-US" sz="1500" dirty="0"/>
          </a:p>
        </p:txBody>
      </p:sp>
      <p:sp>
        <p:nvSpPr>
          <p:cNvPr id="6" name="Text 4"/>
          <p:cNvSpPr/>
          <p:nvPr/>
        </p:nvSpPr>
        <p:spPr>
          <a:xfrm>
            <a:off x="5120640" y="1783080"/>
            <a:ext cx="3291840" cy="2286000"/>
          </a:xfrm>
          <a:prstGeom prst="rect">
            <a:avLst/>
          </a:prstGeom>
          <a:noFill/>
          <a:ln/>
        </p:spPr>
        <p:txBody>
          <a:bodyPr wrap="square" rtlCol="0" anchor="t"/>
          <a:lstStyle/>
          <a:p>
            <a:pPr marL="342900" indent="-342900">
              <a:buSzPct val="100000"/>
              <a:buChar char="•"/>
            </a:pPr>
            <a:r>
              <a:rPr lang="en-US" sz="1300" dirty="0">
                <a:latin typeface="Calibri" pitchFamily="34" charset="0"/>
                <a:ea typeface="Calibri" pitchFamily="34" charset="-122"/>
                <a:cs typeface="Calibri" pitchFamily="34" charset="-120"/>
              </a:rPr>
              <a:t>Mitarbeiter sind nicht immer online</a:t>
            </a:r>
            <a:endParaRPr lang="en-US" sz="1300" dirty="0"/>
          </a:p>
          <a:p>
            <a:pPr marL="0" indent="0">
              <a:buNone/>
            </a:pPr>
            <a:endParaRPr lang="en-US" sz="1300" dirty="0"/>
          </a:p>
          <a:p>
            <a:pPr marL="342900" indent="-342900">
              <a:buSzPct val="100000"/>
              <a:buChar char="•"/>
            </a:pPr>
            <a:r>
              <a:rPr lang="en-US" sz="1300" dirty="0">
                <a:latin typeface="Calibri" pitchFamily="34" charset="0"/>
                <a:ea typeface="Calibri" pitchFamily="34" charset="-122"/>
                <a:cs typeface="Calibri" pitchFamily="34" charset="-120"/>
              </a:rPr>
              <a:t>Aufträge müssen trotzdem zuverlässig ankommen</a:t>
            </a:r>
            <a:endParaRPr lang="en-US" sz="1300" dirty="0"/>
          </a:p>
          <a:p>
            <a:pPr marL="0" indent="0">
              <a:buNone/>
            </a:pPr>
            <a:endParaRPr lang="en-US" sz="1300" dirty="0"/>
          </a:p>
          <a:p>
            <a:pPr marL="342900" indent="-342900">
              <a:buSzPct val="100000"/>
              <a:buChar char="•"/>
            </a:pPr>
            <a:r>
              <a:rPr lang="en-US" sz="1300" dirty="0">
                <a:latin typeface="Calibri" pitchFamily="34" charset="0"/>
                <a:ea typeface="Calibri" pitchFamily="34" charset="-122"/>
                <a:cs typeface="Calibri" pitchFamily="34" charset="-120"/>
              </a:rPr>
              <a:t>Mehrere können denselben Job wollen</a:t>
            </a:r>
            <a:endParaRPr lang="en-US" sz="1300" dirty="0"/>
          </a:p>
          <a:p>
            <a:pPr marL="0" indent="0">
              <a:buNone/>
            </a:pPr>
            <a:endParaRPr lang="en-US" sz="1300" dirty="0"/>
          </a:p>
          <a:p>
            <a:pPr marL="342900" indent="-342900">
              <a:buSzPct val="100000"/>
              <a:buChar char="•"/>
            </a:pPr>
            <a:r>
              <a:rPr lang="en-US" sz="1300" dirty="0">
                <a:latin typeface="Calibri" pitchFamily="34" charset="0"/>
                <a:ea typeface="Calibri" pitchFamily="34" charset="-122"/>
                <a:cs typeface="Calibri" pitchFamily="34" charset="-120"/>
              </a:rPr>
              <a:t>1:n Kommunikation nötig (nicht nur 1:1)</a:t>
            </a:r>
            <a:endParaRPr lang="en-US" sz="1300" dirty="0"/>
          </a:p>
        </p:txBody>
      </p:sp>
      <p:sp>
        <p:nvSpPr>
          <p:cNvPr id="7" name="Shape 5"/>
          <p:cNvSpPr/>
          <p:nvPr/>
        </p:nvSpPr>
        <p:spPr>
          <a:xfrm>
            <a:off x="731520" y="4434840"/>
            <a:ext cx="7955280" cy="502920"/>
          </a:xfrm>
          <a:prstGeom prst="rect">
            <a:avLst/>
          </a:prstGeom>
          <a:solidFill>
            <a:srgbClr val="065A82"/>
          </a:solidFill>
          <a:ln/>
        </p:spPr>
        <p:txBody>
          <a:bodyPr/>
          <a:lstStyle/>
          <a:p>
            <a:endParaRPr lang="de-DE"/>
          </a:p>
        </p:txBody>
      </p:sp>
      <p:sp>
        <p:nvSpPr>
          <p:cNvPr id="8" name="Text 6"/>
          <p:cNvSpPr/>
          <p:nvPr/>
        </p:nvSpPr>
        <p:spPr>
          <a:xfrm>
            <a:off x="1005840" y="4434840"/>
            <a:ext cx="7406640" cy="502920"/>
          </a:xfrm>
          <a:prstGeom prst="rect">
            <a:avLst/>
          </a:prstGeom>
          <a:noFill/>
          <a:ln/>
        </p:spPr>
        <p:txBody>
          <a:bodyPr wrap="square"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Synchrone Kommunikation (RPC) funktioniert hier nicht – wir brauchen asynchrones Messaging.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Warum Message-Oriented Middleware?</a:t>
            </a:r>
            <a:endParaRPr lang="en-US" sz="3000" dirty="0"/>
          </a:p>
        </p:txBody>
      </p:sp>
      <p:sp>
        <p:nvSpPr>
          <p:cNvPr id="3" name="Shape 1"/>
          <p:cNvSpPr/>
          <p:nvPr/>
        </p:nvSpPr>
        <p:spPr>
          <a:xfrm>
            <a:off x="731520" y="1188720"/>
            <a:ext cx="3657600" cy="3108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4" name="Shape 2"/>
          <p:cNvSpPr/>
          <p:nvPr/>
        </p:nvSpPr>
        <p:spPr>
          <a:xfrm>
            <a:off x="731520" y="1188720"/>
            <a:ext cx="3657600" cy="54864"/>
          </a:xfrm>
          <a:prstGeom prst="rect">
            <a:avLst/>
          </a:prstGeom>
          <a:solidFill>
            <a:srgbClr val="DC2626"/>
          </a:solidFill>
          <a:ln/>
        </p:spPr>
        <p:txBody>
          <a:bodyPr/>
          <a:lstStyle/>
          <a:p>
            <a:endParaRPr lang="de-DE"/>
          </a:p>
        </p:txBody>
      </p:sp>
      <p:sp>
        <p:nvSpPr>
          <p:cNvPr id="5" name="Text 3"/>
          <p:cNvSpPr/>
          <p:nvPr/>
        </p:nvSpPr>
        <p:spPr>
          <a:xfrm>
            <a:off x="1005840" y="1417320"/>
            <a:ext cx="3108960" cy="320040"/>
          </a:xfrm>
          <a:prstGeom prst="rect">
            <a:avLst/>
          </a:prstGeom>
          <a:noFill/>
          <a:ln/>
        </p:spPr>
        <p:txBody>
          <a:bodyPr wrap="square" lIns="0" tIns="0" rIns="0" bIns="0" rtlCol="0" anchor="ctr"/>
          <a:lstStyle/>
          <a:p>
            <a:pPr marL="0" indent="0">
              <a:buNone/>
            </a:pPr>
            <a:r>
              <a:rPr lang="en-US" sz="1800" b="1" dirty="0">
                <a:solidFill>
                  <a:srgbClr val="DC2626"/>
                </a:solidFill>
                <a:latin typeface="Calibri" pitchFamily="34" charset="0"/>
                <a:ea typeface="Calibri" pitchFamily="34" charset="-122"/>
                <a:cs typeface="Calibri" pitchFamily="34" charset="-120"/>
              </a:rPr>
              <a:t>RPC (Synchron)</a:t>
            </a:r>
            <a:endParaRPr lang="en-US" sz="1800" dirty="0"/>
          </a:p>
        </p:txBody>
      </p:sp>
      <p:sp>
        <p:nvSpPr>
          <p:cNvPr id="6" name="Text 4"/>
          <p:cNvSpPr/>
          <p:nvPr/>
        </p:nvSpPr>
        <p:spPr>
          <a:xfrm>
            <a:off x="1005840" y="1920240"/>
            <a:ext cx="3108960" cy="2194560"/>
          </a:xfrm>
          <a:prstGeom prst="rect">
            <a:avLst/>
          </a:prstGeom>
          <a:noFill/>
          <a:ln/>
        </p:spPr>
        <p:txBody>
          <a:bodyPr wrap="square" rtlCol="0" anchor="t"/>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Client ruft Funktion auf und wartet</a:t>
            </a:r>
            <a:endParaRPr lang="en-US" sz="1300" dirty="0"/>
          </a:p>
          <a:p>
            <a:pPr marL="0" indent="0">
              <a:buNone/>
            </a:pP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Empfänger muss online sein</a:t>
            </a:r>
            <a:endParaRPr lang="en-US" sz="1300" dirty="0"/>
          </a:p>
          <a:p>
            <a:pPr marL="0" indent="0">
              <a:buNone/>
            </a:pP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1:1 Kommunikation</a:t>
            </a:r>
            <a:endParaRPr lang="en-US" sz="1300" dirty="0"/>
          </a:p>
          <a:p>
            <a:pPr marL="0" indent="0">
              <a:buNone/>
            </a:pP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Enge Kopplung</a:t>
            </a:r>
            <a:endParaRPr lang="en-US" sz="1300" dirty="0"/>
          </a:p>
          <a:p>
            <a:pPr marL="0" indent="0">
              <a:buNone/>
            </a:pPr>
            <a:endParaRPr lang="en-US" sz="1300" dirty="0"/>
          </a:p>
          <a:p>
            <a:pPr marL="342900" indent="-342900">
              <a:buSzPct val="100000"/>
              <a:buChar char="•"/>
            </a:pPr>
            <a:r>
              <a:rPr lang="en-US" sz="1300" b="1" dirty="0">
                <a:solidFill>
                  <a:srgbClr val="DC2626"/>
                </a:solidFill>
                <a:latin typeface="Calibri" pitchFamily="34" charset="0"/>
                <a:ea typeface="Calibri" pitchFamily="34" charset="-122"/>
                <a:cs typeface="Calibri" pitchFamily="34" charset="-120"/>
              </a:rPr>
              <a:t>Nicht geeignet für mobile, instabile Verbindungen</a:t>
            </a:r>
            <a:endParaRPr lang="en-US" sz="1300" dirty="0"/>
          </a:p>
        </p:txBody>
      </p:sp>
      <p:sp>
        <p:nvSpPr>
          <p:cNvPr id="7" name="Shape 5"/>
          <p:cNvSpPr/>
          <p:nvPr/>
        </p:nvSpPr>
        <p:spPr>
          <a:xfrm>
            <a:off x="4754880" y="1188720"/>
            <a:ext cx="3931920" cy="3108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8" name="Shape 6"/>
          <p:cNvSpPr/>
          <p:nvPr/>
        </p:nvSpPr>
        <p:spPr>
          <a:xfrm>
            <a:off x="4754880" y="1188720"/>
            <a:ext cx="3931920" cy="54864"/>
          </a:xfrm>
          <a:prstGeom prst="rect">
            <a:avLst/>
          </a:prstGeom>
          <a:solidFill>
            <a:srgbClr val="059669"/>
          </a:solidFill>
          <a:ln/>
        </p:spPr>
        <p:txBody>
          <a:bodyPr/>
          <a:lstStyle/>
          <a:p>
            <a:endParaRPr lang="de-DE"/>
          </a:p>
        </p:txBody>
      </p:sp>
      <p:sp>
        <p:nvSpPr>
          <p:cNvPr id="9" name="Text 7"/>
          <p:cNvSpPr/>
          <p:nvPr/>
        </p:nvSpPr>
        <p:spPr>
          <a:xfrm>
            <a:off x="5029200" y="1417320"/>
            <a:ext cx="3383280" cy="320040"/>
          </a:xfrm>
          <a:prstGeom prst="rect">
            <a:avLst/>
          </a:prstGeom>
          <a:noFill/>
          <a:ln/>
        </p:spPr>
        <p:txBody>
          <a:bodyPr wrap="square" lIns="0" tIns="0" rIns="0" bIns="0" rtlCol="0" anchor="ctr"/>
          <a:lstStyle/>
          <a:p>
            <a:pPr marL="0" indent="0">
              <a:buNone/>
            </a:pPr>
            <a:r>
              <a:rPr lang="en-US" sz="1800" b="1" dirty="0">
                <a:solidFill>
                  <a:srgbClr val="059669"/>
                </a:solidFill>
                <a:latin typeface="Calibri" pitchFamily="34" charset="0"/>
                <a:ea typeface="Calibri" pitchFamily="34" charset="-122"/>
                <a:cs typeface="Calibri" pitchFamily="34" charset="-120"/>
              </a:rPr>
              <a:t>MOM (Asynchron)</a:t>
            </a:r>
            <a:endParaRPr lang="en-US" sz="1800" dirty="0"/>
          </a:p>
        </p:txBody>
      </p:sp>
      <p:sp>
        <p:nvSpPr>
          <p:cNvPr id="10" name="Text 8"/>
          <p:cNvSpPr/>
          <p:nvPr/>
        </p:nvSpPr>
        <p:spPr>
          <a:xfrm>
            <a:off x="5029200" y="1920240"/>
            <a:ext cx="3383280" cy="2194560"/>
          </a:xfrm>
          <a:prstGeom prst="rect">
            <a:avLst/>
          </a:prstGeom>
          <a:noFill/>
          <a:ln/>
        </p:spPr>
        <p:txBody>
          <a:bodyPr wrap="square" rtlCol="0" anchor="t"/>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Sender feuert Nachricht ab und arbeitet weiter</a:t>
            </a:r>
            <a:endParaRPr lang="en-US" sz="1300" dirty="0"/>
          </a:p>
          <a:p>
            <a:pPr marL="0" indent="0">
              <a:buNone/>
            </a:pP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Empfänger kann offline sein (Queuing)</a:t>
            </a:r>
            <a:endParaRPr lang="en-US" sz="1300" dirty="0"/>
          </a:p>
          <a:p>
            <a:pPr marL="0" indent="0">
              <a:buNone/>
            </a:pP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1:1 und 1:n Kommunikation</a:t>
            </a:r>
            <a:endParaRPr lang="en-US" sz="1300" dirty="0"/>
          </a:p>
          <a:p>
            <a:pPr marL="0" indent="0">
              <a:buNone/>
            </a:pP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Lose Kopplung via Message Broker</a:t>
            </a:r>
            <a:endParaRPr lang="en-US" sz="1300" dirty="0"/>
          </a:p>
          <a:p>
            <a:pPr marL="0" indent="0">
              <a:buNone/>
            </a:pPr>
            <a:endParaRPr lang="en-US" sz="1300" dirty="0"/>
          </a:p>
          <a:p>
            <a:pPr marL="342900" indent="-342900">
              <a:buSzPct val="100000"/>
              <a:buChar char="•"/>
            </a:pPr>
            <a:r>
              <a:rPr lang="en-US" sz="1300" b="1" dirty="0">
                <a:solidFill>
                  <a:srgbClr val="059669"/>
                </a:solidFill>
                <a:latin typeface="Calibri" pitchFamily="34" charset="0"/>
                <a:ea typeface="Calibri" pitchFamily="34" charset="-122"/>
                <a:cs typeface="Calibri" pitchFamily="34" charset="-120"/>
              </a:rPr>
              <a:t>Ideal für mobile Aussendienstmitarbeiter</a:t>
            </a:r>
            <a:endParaRPr lang="en-US" sz="1300" dirty="0"/>
          </a:p>
        </p:txBody>
      </p:sp>
      <p:sp>
        <p:nvSpPr>
          <p:cNvPr id="11" name="Shape 9"/>
          <p:cNvSpPr/>
          <p:nvPr/>
        </p:nvSpPr>
        <p:spPr>
          <a:xfrm>
            <a:off x="731520" y="4480560"/>
            <a:ext cx="7955280" cy="457200"/>
          </a:xfrm>
          <a:prstGeom prst="rect">
            <a:avLst/>
          </a:prstGeom>
          <a:solidFill>
            <a:srgbClr val="E0F2FE"/>
          </a:solidFill>
          <a:ln/>
        </p:spPr>
        <p:txBody>
          <a:bodyPr/>
          <a:lstStyle/>
          <a:p>
            <a:endParaRPr lang="de-DE"/>
          </a:p>
        </p:txBody>
      </p:sp>
      <p:sp>
        <p:nvSpPr>
          <p:cNvPr id="12" name="Text 10"/>
          <p:cNvSpPr/>
          <p:nvPr/>
        </p:nvSpPr>
        <p:spPr>
          <a:xfrm>
            <a:off x="1005840" y="4480560"/>
            <a:ext cx="7406640" cy="457200"/>
          </a:xfrm>
          <a:prstGeom prst="rect">
            <a:avLst/>
          </a:prstGeom>
          <a:noFill/>
          <a:ln/>
        </p:spPr>
        <p:txBody>
          <a:bodyPr wrap="square" rtlCol="0" anchor="ctr"/>
          <a:lstStyle/>
          <a:p>
            <a:pPr marL="0" indent="0">
              <a:buNone/>
            </a:pPr>
            <a:r>
              <a:rPr lang="en-US" sz="1200" i="1" dirty="0">
                <a:solidFill>
                  <a:srgbClr val="065A82"/>
                </a:solidFill>
                <a:latin typeface="Calibri" pitchFamily="34" charset="0"/>
                <a:ea typeface="Calibri" pitchFamily="34" charset="-122"/>
                <a:cs typeface="Calibri" pitchFamily="34" charset="-120"/>
              </a:rPr>
              <a:t>Message Broker (ActiveMQ): Nimmt Nachrichten entgegen, speichert sie, leitet sie weiter. Wie ein Postamt.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Kernkonzepte: Topic vs. Queue</a:t>
            </a:r>
            <a:endParaRPr lang="en-US" sz="3000" dirty="0"/>
          </a:p>
        </p:txBody>
      </p:sp>
      <p:sp>
        <p:nvSpPr>
          <p:cNvPr id="3" name="Shape 1"/>
          <p:cNvSpPr/>
          <p:nvPr/>
        </p:nvSpPr>
        <p:spPr>
          <a:xfrm>
            <a:off x="731520" y="1188720"/>
            <a:ext cx="365760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4" name="Shape 2"/>
          <p:cNvSpPr/>
          <p:nvPr/>
        </p:nvSpPr>
        <p:spPr>
          <a:xfrm>
            <a:off x="731520" y="1188720"/>
            <a:ext cx="73152" cy="2560320"/>
          </a:xfrm>
          <a:prstGeom prst="rect">
            <a:avLst/>
          </a:prstGeom>
          <a:solidFill>
            <a:srgbClr val="1C7293"/>
          </a:solidFill>
          <a:ln/>
        </p:spPr>
        <p:txBody>
          <a:bodyPr/>
          <a:lstStyle/>
          <a:p>
            <a:endParaRPr lang="de-DE"/>
          </a:p>
        </p:txBody>
      </p:sp>
      <p:sp>
        <p:nvSpPr>
          <p:cNvPr id="5" name="Text 3"/>
          <p:cNvSpPr/>
          <p:nvPr/>
        </p:nvSpPr>
        <p:spPr>
          <a:xfrm>
            <a:off x="1097280" y="1325880"/>
            <a:ext cx="3108960" cy="32004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Queue (Point-to-Point)</a:t>
            </a:r>
            <a:endParaRPr lang="en-US" sz="1600" dirty="0"/>
          </a:p>
        </p:txBody>
      </p:sp>
      <p:sp>
        <p:nvSpPr>
          <p:cNvPr id="6" name="Text 4"/>
          <p:cNvSpPr/>
          <p:nvPr/>
        </p:nvSpPr>
        <p:spPr>
          <a:xfrm>
            <a:off x="1097280" y="1783080"/>
            <a:ext cx="3017520" cy="1737360"/>
          </a:xfrm>
          <a:prstGeom prst="rect">
            <a:avLst/>
          </a:prstGeom>
          <a:noFill/>
          <a:ln/>
        </p:spPr>
        <p:txBody>
          <a:bodyPr wrap="square" rtlCol="0" anchor="t"/>
          <a:lstStyle/>
          <a:p>
            <a:pPr marL="0" indent="0">
              <a:buNone/>
            </a:pPr>
            <a:r>
              <a:rPr lang="en-US" sz="1300" dirty="0">
                <a:solidFill>
                  <a:srgbClr val="1E293B"/>
                </a:solidFill>
                <a:latin typeface="Calibri" pitchFamily="34" charset="0"/>
                <a:ea typeface="Calibri" pitchFamily="34" charset="-122"/>
                <a:cs typeface="Calibri" pitchFamily="34" charset="-120"/>
              </a:rPr>
              <a:t>Jede Nachricht wird von genau einem Consumer verarbeitet</a:t>
            </a:r>
            <a:endParaRPr lang="en-US" sz="1300" dirty="0"/>
          </a:p>
          <a:p>
            <a:pPr marL="0" indent="0">
              <a:buNone/>
            </a:pPr>
            <a:endParaRPr lang="en-US" sz="1300" dirty="0"/>
          </a:p>
          <a:p>
            <a:pPr marL="0" indent="0">
              <a:buNone/>
            </a:pPr>
            <a:r>
              <a:rPr lang="en-US" sz="1300" i="1" dirty="0">
                <a:solidFill>
                  <a:srgbClr val="64748B"/>
                </a:solidFill>
                <a:latin typeface="Calibri" pitchFamily="34" charset="0"/>
                <a:ea typeface="Calibri" pitchFamily="34" charset="-122"/>
                <a:cs typeface="Calibri" pitchFamily="34" charset="-120"/>
              </a:rPr>
              <a:t>Wie ein Briefkasten: Einer holt den Brief ab</a:t>
            </a:r>
            <a:endParaRPr lang="en-US" sz="1300" dirty="0"/>
          </a:p>
          <a:p>
            <a:pPr marL="0" indent="0">
              <a:buNone/>
            </a:pPr>
            <a:endParaRPr lang="en-US" sz="1300" dirty="0"/>
          </a:p>
          <a:p>
            <a:pPr marL="0" indent="0">
              <a:buNone/>
            </a:pPr>
            <a:r>
              <a:rPr lang="en-US" sz="1300" b="1" dirty="0">
                <a:solidFill>
                  <a:srgbClr val="1E293B"/>
                </a:solidFill>
                <a:latin typeface="Calibri" pitchFamily="34" charset="0"/>
                <a:ea typeface="Calibri" pitchFamily="34" charset="-122"/>
                <a:cs typeface="Calibri" pitchFamily="34" charset="-120"/>
              </a:rPr>
              <a:t>In unserem Case:</a:t>
            </a:r>
            <a:endParaRPr lang="en-US" sz="1300" dirty="0"/>
          </a:p>
          <a:p>
            <a:pPr marL="0" indent="0">
              <a:buNone/>
            </a:pPr>
            <a:r>
              <a:rPr lang="en-US" sz="1100" dirty="0">
                <a:solidFill>
                  <a:srgbClr val="065A82"/>
                </a:solidFill>
                <a:latin typeface="Consolas" pitchFamily="34" charset="0"/>
                <a:ea typeface="Consolas" pitchFamily="34" charset="-122"/>
                <a:cs typeface="Consolas" pitchFamily="34" charset="-120"/>
              </a:rPr>
              <a:t>dispo.jobs.requestAssignment</a:t>
            </a:r>
            <a:endParaRPr lang="en-US" sz="1300" dirty="0"/>
          </a:p>
        </p:txBody>
      </p:sp>
      <p:sp>
        <p:nvSpPr>
          <p:cNvPr id="7" name="Shape 5"/>
          <p:cNvSpPr/>
          <p:nvPr/>
        </p:nvSpPr>
        <p:spPr>
          <a:xfrm>
            <a:off x="4754880" y="1188720"/>
            <a:ext cx="393192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8" name="Shape 6"/>
          <p:cNvSpPr/>
          <p:nvPr/>
        </p:nvSpPr>
        <p:spPr>
          <a:xfrm>
            <a:off x="4754880" y="1188720"/>
            <a:ext cx="73152" cy="2560320"/>
          </a:xfrm>
          <a:prstGeom prst="rect">
            <a:avLst/>
          </a:prstGeom>
          <a:solidFill>
            <a:srgbClr val="F59E0B"/>
          </a:solidFill>
          <a:ln/>
        </p:spPr>
        <p:txBody>
          <a:bodyPr/>
          <a:lstStyle/>
          <a:p>
            <a:endParaRPr lang="de-DE"/>
          </a:p>
        </p:txBody>
      </p:sp>
      <p:sp>
        <p:nvSpPr>
          <p:cNvPr id="9" name="Text 7"/>
          <p:cNvSpPr/>
          <p:nvPr/>
        </p:nvSpPr>
        <p:spPr>
          <a:xfrm>
            <a:off x="5120640" y="1325880"/>
            <a:ext cx="3383280" cy="320040"/>
          </a:xfrm>
          <a:prstGeom prst="rect">
            <a:avLst/>
          </a:prstGeom>
          <a:noFill/>
          <a:ln/>
        </p:spPr>
        <p:txBody>
          <a:bodyPr wrap="square" lIns="0" tIns="0" rIns="0" bIns="0" rtlCol="0" anchor="ctr"/>
          <a:lstStyle/>
          <a:p>
            <a:pPr marL="0" indent="0">
              <a:buNone/>
            </a:pPr>
            <a:r>
              <a:rPr lang="en-US" sz="1600" b="1" dirty="0">
                <a:solidFill>
                  <a:srgbClr val="F59E0B"/>
                </a:solidFill>
                <a:latin typeface="Calibri" pitchFamily="34" charset="0"/>
                <a:ea typeface="Calibri" pitchFamily="34" charset="-122"/>
                <a:cs typeface="Calibri" pitchFamily="34" charset="-120"/>
              </a:rPr>
              <a:t>Topic (Publish-Subscribe)</a:t>
            </a:r>
            <a:endParaRPr lang="en-US" sz="1600" dirty="0"/>
          </a:p>
        </p:txBody>
      </p:sp>
      <p:sp>
        <p:nvSpPr>
          <p:cNvPr id="10" name="Text 8"/>
          <p:cNvSpPr/>
          <p:nvPr/>
        </p:nvSpPr>
        <p:spPr>
          <a:xfrm>
            <a:off x="5120640" y="1783080"/>
            <a:ext cx="3291840" cy="1737360"/>
          </a:xfrm>
          <a:prstGeom prst="rect">
            <a:avLst/>
          </a:prstGeom>
          <a:noFill/>
          <a:ln/>
        </p:spPr>
        <p:txBody>
          <a:bodyPr wrap="square" rtlCol="0" anchor="t"/>
          <a:lstStyle/>
          <a:p>
            <a:pPr marL="0" indent="0">
              <a:buNone/>
            </a:pPr>
            <a:r>
              <a:rPr lang="en-US" sz="1300" dirty="0">
                <a:solidFill>
                  <a:srgbClr val="1E293B"/>
                </a:solidFill>
                <a:latin typeface="Calibri" pitchFamily="34" charset="0"/>
                <a:ea typeface="Calibri" pitchFamily="34" charset="-122"/>
                <a:cs typeface="Calibri" pitchFamily="34" charset="-120"/>
              </a:rPr>
              <a:t>Jede Nachricht geht an alle Subscriber</a:t>
            </a:r>
            <a:endParaRPr lang="en-US" sz="1300" dirty="0"/>
          </a:p>
          <a:p>
            <a:pPr marL="0" indent="0">
              <a:buNone/>
            </a:pPr>
            <a:endParaRPr lang="en-US" sz="1300" dirty="0"/>
          </a:p>
          <a:p>
            <a:pPr marL="0" indent="0">
              <a:buNone/>
            </a:pPr>
            <a:r>
              <a:rPr lang="en-US" sz="1300" i="1" dirty="0">
                <a:solidFill>
                  <a:srgbClr val="64748B"/>
                </a:solidFill>
                <a:latin typeface="Calibri" pitchFamily="34" charset="0"/>
                <a:ea typeface="Calibri" pitchFamily="34" charset="-122"/>
                <a:cs typeface="Calibri" pitchFamily="34" charset="-120"/>
              </a:rPr>
              <a:t>Wie ein Aushang: Alle können es lesen</a:t>
            </a:r>
            <a:endParaRPr lang="en-US" sz="1300" dirty="0"/>
          </a:p>
          <a:p>
            <a:pPr marL="0" indent="0">
              <a:buNone/>
            </a:pPr>
            <a:endParaRPr lang="en-US" sz="1300" dirty="0"/>
          </a:p>
          <a:p>
            <a:pPr marL="0" indent="0">
              <a:buNone/>
            </a:pPr>
            <a:r>
              <a:rPr lang="en-US" sz="1300" b="1" dirty="0">
                <a:solidFill>
                  <a:srgbClr val="1E293B"/>
                </a:solidFill>
                <a:latin typeface="Calibri" pitchFamily="34" charset="0"/>
                <a:ea typeface="Calibri" pitchFamily="34" charset="-122"/>
                <a:cs typeface="Calibri" pitchFamily="34" charset="-120"/>
              </a:rPr>
              <a:t>In unserem Case:</a:t>
            </a:r>
            <a:endParaRPr lang="en-US" sz="1300" dirty="0"/>
          </a:p>
          <a:p>
            <a:pPr marL="0" indent="0">
              <a:buNone/>
            </a:pPr>
            <a:r>
              <a:rPr lang="en-US" sz="1100" dirty="0">
                <a:solidFill>
                  <a:srgbClr val="065A82"/>
                </a:solidFill>
                <a:latin typeface="Consolas" pitchFamily="34" charset="0"/>
                <a:ea typeface="Consolas" pitchFamily="34" charset="-122"/>
                <a:cs typeface="Consolas" pitchFamily="34" charset="-120"/>
              </a:rPr>
              <a:t>dispo.jobs.new</a:t>
            </a:r>
            <a:endParaRPr lang="en-US" sz="1300" dirty="0"/>
          </a:p>
          <a:p>
            <a:pPr marL="0" indent="0">
              <a:buNone/>
            </a:pPr>
            <a:r>
              <a:rPr lang="en-US" sz="1100" dirty="0">
                <a:solidFill>
                  <a:srgbClr val="065A82"/>
                </a:solidFill>
                <a:latin typeface="Consolas" pitchFamily="34" charset="0"/>
                <a:ea typeface="Consolas" pitchFamily="34" charset="-122"/>
                <a:cs typeface="Consolas" pitchFamily="34" charset="-120"/>
              </a:rPr>
              <a:t>dispo.jobs.assignments</a:t>
            </a:r>
            <a:endParaRPr lang="en-US" sz="1300" dirty="0"/>
          </a:p>
        </p:txBody>
      </p:sp>
      <p:sp>
        <p:nvSpPr>
          <p:cNvPr id="11" name="Shape 9"/>
          <p:cNvSpPr/>
          <p:nvPr/>
        </p:nvSpPr>
        <p:spPr>
          <a:xfrm>
            <a:off x="731520" y="3977640"/>
            <a:ext cx="7955280" cy="640080"/>
          </a:xfrm>
          <a:prstGeom prst="rect">
            <a:avLst/>
          </a:prstGeom>
          <a:solidFill>
            <a:srgbClr val="0F1B2D"/>
          </a:solidFill>
          <a:ln/>
        </p:spPr>
        <p:txBody>
          <a:bodyPr/>
          <a:lstStyle/>
          <a:p>
            <a:endParaRPr lang="de-DE"/>
          </a:p>
        </p:txBody>
      </p:sp>
      <p:sp>
        <p:nvSpPr>
          <p:cNvPr id="12" name="Text 10"/>
          <p:cNvSpPr/>
          <p:nvPr/>
        </p:nvSpPr>
        <p:spPr>
          <a:xfrm>
            <a:off x="1005840" y="3977640"/>
            <a:ext cx="7406640" cy="64008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Durable Subscriber: </a:t>
            </a:r>
            <a:r>
              <a:rPr lang="en-US" sz="1300" dirty="0">
                <a:solidFill>
                  <a:srgbClr val="FFFFFF"/>
                </a:solidFill>
                <a:latin typeface="Calibri" pitchFamily="34" charset="0"/>
                <a:ea typeface="Calibri" pitchFamily="34" charset="-122"/>
                <a:cs typeface="Calibri" pitchFamily="34" charset="-120"/>
              </a:rPr>
              <a:t>Ein Client, der kurz offline war, bekommt verpasste Nachrichten nachgeliefert. Essentiell für mobile Mitarbeiter.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Enterprise Integration Patterns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246120"/>
        </p:xfrm>
        <a:graphic>
          <a:graphicData uri="http://schemas.openxmlformats.org/drawingml/2006/table">
            <a:tbl>
              <a:tblPr/>
              <a:tblGrid>
                <a:gridCol w="20116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576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B2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Wo angewendet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B2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Begründung</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B2D"/>
                    </a:solidFill>
                  </a:tcPr>
                </a:tc>
                <a:extLst>
                  <a:ext uri="{0D108BD9-81ED-4DB2-BD59-A6C34878D82A}">
                    <a16:rowId xmlns:a16="http://schemas.microsoft.com/office/drawing/2014/main" val="10000"/>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Publish-Subscribe Channel</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900" dirty="0">
                          <a:solidFill>
                            <a:srgbClr val="1E293B"/>
                          </a:solidFill>
                          <a:latin typeface="Consolas" pitchFamily="34" charset="0"/>
                          <a:ea typeface="Consolas" pitchFamily="34" charset="-122"/>
                          <a:cs typeface="Consolas" pitchFamily="34" charset="-120"/>
                        </a:rPr>
                        <a:t>dispo.jobs.new, dispo.jobs.assignments</a:t>
                      </a:r>
                      <a:endParaRPr lang="en-US" sz="9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1:n – alle Mitarbeiter sehen neue Jobs / Zuweisungen</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Point-to-Point Channel</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marL="0" indent="0" algn="l">
                        <a:buNone/>
                      </a:pPr>
                      <a:r>
                        <a:rPr lang="en-US" sz="900" dirty="0">
                          <a:solidFill>
                            <a:srgbClr val="1E293B"/>
                          </a:solidFill>
                          <a:latin typeface="Consolas" pitchFamily="34" charset="0"/>
                          <a:ea typeface="Consolas" pitchFamily="34" charset="-122"/>
                          <a:cs typeface="Consolas" pitchFamily="34" charset="-120"/>
                        </a:rPr>
                        <a:t>dispo.jobs.requestAssignment</a:t>
                      </a:r>
                      <a:endParaRPr lang="en-US" sz="9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1:1 – jede Anfrage wird genau einmal verarbeitet</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extLst>
                  <a:ext uri="{0D108BD9-81ED-4DB2-BD59-A6C34878D82A}">
                    <a16:rowId xmlns:a16="http://schemas.microsoft.com/office/drawing/2014/main" val="10002"/>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Content-Based Router</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Disposition (Eingang)</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Routing nach Auftragstyp: Wartung → Topic, Reparatur → direkt</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Durable Subscriber</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Client Apps auf Topics</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Nachrichten auch nach Offline-Phase nachliefern</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extLst>
                  <a:ext uri="{0D108BD9-81ED-4DB2-BD59-A6C34878D82A}">
                    <a16:rowId xmlns:a16="http://schemas.microsoft.com/office/drawing/2014/main" val="10004"/>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Competing Consumers</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requestAssignment Queue</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Mehrere Anfragen für denselben Job → Disposition entscheidet</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Message Filter</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Client App (lokal)</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Optional nach Region filtern</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extLst>
                  <a:ext uri="{0D108BD9-81ED-4DB2-BD59-A6C34878D82A}">
                    <a16:rowId xmlns:a16="http://schemas.microsoft.com/office/drawing/2014/main" val="10006"/>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Message Endpoint</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Client App, Disposition</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Kapselt Zugriff auf die Messaging-Infrastruktur</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731520" y="228600"/>
            <a:ext cx="768096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EIP-Lösungskonzept: Architekturübersicht</a:t>
            </a:r>
            <a:endParaRPr lang="en-US" sz="2600" dirty="0"/>
          </a:p>
        </p:txBody>
      </p:sp>
      <p:pic>
        <p:nvPicPr>
          <p:cNvPr id="3" name="Image 0" descr="/Users/roberto.panizza/Github/FHNW/Software Architecture/case3-fhnw-sa/Case3_Abgabe/EIP_Loesungskonzept.drawio.png"/>
          <p:cNvPicPr>
            <a:picLocks noChangeAspect="1"/>
          </p:cNvPicPr>
          <p:nvPr/>
        </p:nvPicPr>
        <p:blipFill>
          <a:blip r:embed="rId3"/>
          <a:stretch>
            <a:fillRect/>
          </a:stretch>
        </p:blipFill>
        <p:spPr>
          <a:xfrm>
            <a:off x="457200" y="914400"/>
            <a:ext cx="8229600" cy="2440938"/>
          </a:xfrm>
          <a:prstGeom prst="rect">
            <a:avLst/>
          </a:prstGeom>
        </p:spPr>
      </p:pic>
      <p:sp>
        <p:nvSpPr>
          <p:cNvPr id="4" name="Shape 1"/>
          <p:cNvSpPr/>
          <p:nvPr/>
        </p:nvSpPr>
        <p:spPr>
          <a:xfrm>
            <a:off x="457200" y="3629658"/>
            <a:ext cx="2560320" cy="594360"/>
          </a:xfrm>
          <a:prstGeom prst="rect">
            <a:avLst/>
          </a:prstGeom>
          <a:solidFill>
            <a:srgbClr val="065A82"/>
          </a:solidFill>
          <a:ln/>
        </p:spPr>
        <p:txBody>
          <a:bodyPr/>
          <a:lstStyle/>
          <a:p>
            <a:endParaRPr lang="de-DE"/>
          </a:p>
        </p:txBody>
      </p:sp>
      <p:sp>
        <p:nvSpPr>
          <p:cNvPr id="5" name="Text 2"/>
          <p:cNvSpPr/>
          <p:nvPr/>
        </p:nvSpPr>
        <p:spPr>
          <a:xfrm>
            <a:off x="594360" y="3629658"/>
            <a:ext cx="2286000" cy="594360"/>
          </a:xfrm>
          <a:prstGeom prst="rect">
            <a:avLst/>
          </a:prstGeom>
          <a:noFill/>
          <a:ln/>
        </p:spPr>
        <p:txBody>
          <a:bodyPr wrap="square"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1  </a:t>
            </a:r>
            <a:r>
              <a:rPr lang="en-US" sz="1050" dirty="0">
                <a:solidFill>
                  <a:srgbClr val="FFFFFF"/>
                </a:solidFill>
                <a:latin typeface="Calibri" pitchFamily="34" charset="0"/>
                <a:ea typeface="Calibri" pitchFamily="34" charset="-122"/>
                <a:cs typeface="Calibri" pitchFamily="34" charset="-120"/>
              </a:rPr>
              <a:t>Callcenter publiziert neue Jobs via Topic</a:t>
            </a:r>
            <a:endParaRPr lang="en-US" sz="1050" dirty="0"/>
          </a:p>
        </p:txBody>
      </p:sp>
      <p:sp>
        <p:nvSpPr>
          <p:cNvPr id="6" name="Shape 3"/>
          <p:cNvSpPr/>
          <p:nvPr/>
        </p:nvSpPr>
        <p:spPr>
          <a:xfrm>
            <a:off x="3291840" y="3629658"/>
            <a:ext cx="2560320" cy="594360"/>
          </a:xfrm>
          <a:prstGeom prst="rect">
            <a:avLst/>
          </a:prstGeom>
          <a:solidFill>
            <a:srgbClr val="065A82"/>
          </a:solidFill>
          <a:ln/>
        </p:spPr>
        <p:txBody>
          <a:bodyPr/>
          <a:lstStyle/>
          <a:p>
            <a:endParaRPr lang="de-DE"/>
          </a:p>
        </p:txBody>
      </p:sp>
      <p:sp>
        <p:nvSpPr>
          <p:cNvPr id="7" name="Text 4"/>
          <p:cNvSpPr/>
          <p:nvPr/>
        </p:nvSpPr>
        <p:spPr>
          <a:xfrm>
            <a:off x="3429000" y="3629658"/>
            <a:ext cx="2286000" cy="594360"/>
          </a:xfrm>
          <a:prstGeom prst="rect">
            <a:avLst/>
          </a:prstGeom>
          <a:noFill/>
          <a:ln/>
        </p:spPr>
        <p:txBody>
          <a:bodyPr wrap="square"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2  </a:t>
            </a:r>
            <a:r>
              <a:rPr lang="en-US" sz="1050" dirty="0">
                <a:solidFill>
                  <a:srgbClr val="FFFFFF"/>
                </a:solidFill>
                <a:latin typeface="Calibri" pitchFamily="34" charset="0"/>
                <a:ea typeface="Calibri" pitchFamily="34" charset="-122"/>
                <a:cs typeface="Calibri" pitchFamily="34" charset="-120"/>
              </a:rPr>
              <a:t>Client fordert Job an via Queue</a:t>
            </a:r>
            <a:endParaRPr lang="en-US" sz="1050" dirty="0"/>
          </a:p>
        </p:txBody>
      </p:sp>
      <p:sp>
        <p:nvSpPr>
          <p:cNvPr id="8" name="Shape 5"/>
          <p:cNvSpPr/>
          <p:nvPr/>
        </p:nvSpPr>
        <p:spPr>
          <a:xfrm>
            <a:off x="6126480" y="3629658"/>
            <a:ext cx="2560320" cy="594360"/>
          </a:xfrm>
          <a:prstGeom prst="rect">
            <a:avLst/>
          </a:prstGeom>
          <a:solidFill>
            <a:srgbClr val="065A82"/>
          </a:solidFill>
          <a:ln/>
        </p:spPr>
        <p:txBody>
          <a:bodyPr/>
          <a:lstStyle/>
          <a:p>
            <a:endParaRPr lang="de-DE"/>
          </a:p>
        </p:txBody>
      </p:sp>
      <p:sp>
        <p:nvSpPr>
          <p:cNvPr id="9" name="Text 6"/>
          <p:cNvSpPr/>
          <p:nvPr/>
        </p:nvSpPr>
        <p:spPr>
          <a:xfrm>
            <a:off x="6263640" y="3629658"/>
            <a:ext cx="2286000" cy="594360"/>
          </a:xfrm>
          <a:prstGeom prst="rect">
            <a:avLst/>
          </a:prstGeom>
          <a:noFill/>
          <a:ln/>
        </p:spPr>
        <p:txBody>
          <a:bodyPr wrap="square"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3  </a:t>
            </a:r>
            <a:r>
              <a:rPr lang="en-US" sz="1050" dirty="0">
                <a:solidFill>
                  <a:srgbClr val="FFFFFF"/>
                </a:solidFill>
                <a:latin typeface="Calibri" pitchFamily="34" charset="0"/>
                <a:ea typeface="Calibri" pitchFamily="34" charset="-122"/>
                <a:cs typeface="Calibri" pitchFamily="34" charset="-120"/>
              </a:rPr>
              <a:t>Disposition sendet Zuweisung via Topic</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Technische Umsetzung</a:t>
            </a:r>
            <a:endParaRPr lang="en-US" sz="3000" dirty="0"/>
          </a:p>
        </p:txBody>
      </p:sp>
      <p:sp>
        <p:nvSpPr>
          <p:cNvPr id="3" name="Shape 1"/>
          <p:cNvSpPr/>
          <p:nvPr/>
        </p:nvSpPr>
        <p:spPr>
          <a:xfrm>
            <a:off x="731520" y="1188720"/>
            <a:ext cx="246888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4" name="Shape 2"/>
          <p:cNvSpPr/>
          <p:nvPr/>
        </p:nvSpPr>
        <p:spPr>
          <a:xfrm>
            <a:off x="731520" y="1188720"/>
            <a:ext cx="2468880" cy="54864"/>
          </a:xfrm>
          <a:prstGeom prst="rect">
            <a:avLst/>
          </a:prstGeom>
          <a:solidFill>
            <a:srgbClr val="059669"/>
          </a:solidFill>
          <a:ln/>
        </p:spPr>
        <p:txBody>
          <a:bodyPr/>
          <a:lstStyle/>
          <a:p>
            <a:endParaRPr lang="de-DE"/>
          </a:p>
        </p:txBody>
      </p:sp>
      <p:sp>
        <p:nvSpPr>
          <p:cNvPr id="5" name="Text 3"/>
          <p:cNvSpPr/>
          <p:nvPr/>
        </p:nvSpPr>
        <p:spPr>
          <a:xfrm>
            <a:off x="914400" y="1417320"/>
            <a:ext cx="2103120" cy="320040"/>
          </a:xfrm>
          <a:prstGeom prst="rect">
            <a:avLst/>
          </a:prstGeom>
          <a:noFill/>
          <a:ln/>
        </p:spPr>
        <p:txBody>
          <a:bodyPr wrap="square" lIns="0" tIns="0" rIns="0" bIns="0" rtlCol="0" anchor="ctr"/>
          <a:lstStyle/>
          <a:p>
            <a:pPr marL="0" indent="0">
              <a:buNone/>
            </a:pPr>
            <a:r>
              <a:rPr lang="en-US" sz="1500" b="1" dirty="0">
                <a:solidFill>
                  <a:srgbClr val="059669"/>
                </a:solidFill>
                <a:latin typeface="Calibri" pitchFamily="34" charset="0"/>
                <a:ea typeface="Calibri" pitchFamily="34" charset="-122"/>
                <a:cs typeface="Calibri" pitchFamily="34" charset="-120"/>
              </a:rPr>
              <a:t>Spring Boot 2.3.4</a:t>
            </a:r>
            <a:endParaRPr lang="en-US" sz="1500" dirty="0"/>
          </a:p>
        </p:txBody>
      </p:sp>
      <p:sp>
        <p:nvSpPr>
          <p:cNvPr id="6" name="Text 4"/>
          <p:cNvSpPr/>
          <p:nvPr/>
        </p:nvSpPr>
        <p:spPr>
          <a:xfrm>
            <a:off x="914400" y="1828800"/>
            <a:ext cx="2103120" cy="10058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Java 11, Auto-Configuration,</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einzige Dependency:</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spring-boot-starter-activemq</a:t>
            </a:r>
            <a:endParaRPr lang="en-US" sz="1200" dirty="0"/>
          </a:p>
        </p:txBody>
      </p:sp>
      <p:sp>
        <p:nvSpPr>
          <p:cNvPr id="7" name="Shape 5"/>
          <p:cNvSpPr/>
          <p:nvPr/>
        </p:nvSpPr>
        <p:spPr>
          <a:xfrm>
            <a:off x="3474720" y="1188720"/>
            <a:ext cx="246888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8" name="Shape 6"/>
          <p:cNvSpPr/>
          <p:nvPr/>
        </p:nvSpPr>
        <p:spPr>
          <a:xfrm>
            <a:off x="3474720" y="1188720"/>
            <a:ext cx="2468880" cy="54864"/>
          </a:xfrm>
          <a:prstGeom prst="rect">
            <a:avLst/>
          </a:prstGeom>
          <a:solidFill>
            <a:srgbClr val="065A82"/>
          </a:solidFill>
          <a:ln/>
        </p:spPr>
        <p:txBody>
          <a:bodyPr/>
          <a:lstStyle/>
          <a:p>
            <a:endParaRPr lang="de-DE"/>
          </a:p>
        </p:txBody>
      </p:sp>
      <p:sp>
        <p:nvSpPr>
          <p:cNvPr id="9" name="Text 7"/>
          <p:cNvSpPr/>
          <p:nvPr/>
        </p:nvSpPr>
        <p:spPr>
          <a:xfrm>
            <a:off x="3657600" y="1417320"/>
            <a:ext cx="210312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Apache ActiveMQ</a:t>
            </a:r>
            <a:endParaRPr lang="en-US" sz="1500" dirty="0"/>
          </a:p>
        </p:txBody>
      </p:sp>
      <p:sp>
        <p:nvSpPr>
          <p:cNvPr id="10" name="Text 8"/>
          <p:cNvSpPr/>
          <p:nvPr/>
        </p:nvSpPr>
        <p:spPr>
          <a:xfrm>
            <a:off x="3657600" y="1828800"/>
            <a:ext cx="2103120" cy="10058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Open-Source Message Broker,</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implementiert JMS (Java</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Message Service)</a:t>
            </a:r>
            <a:endParaRPr lang="en-US" sz="1200" dirty="0"/>
          </a:p>
        </p:txBody>
      </p:sp>
      <p:sp>
        <p:nvSpPr>
          <p:cNvPr id="11" name="Shape 9"/>
          <p:cNvSpPr/>
          <p:nvPr/>
        </p:nvSpPr>
        <p:spPr>
          <a:xfrm>
            <a:off x="6217920" y="1188720"/>
            <a:ext cx="246888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12" name="Shape 10"/>
          <p:cNvSpPr/>
          <p:nvPr/>
        </p:nvSpPr>
        <p:spPr>
          <a:xfrm>
            <a:off x="6217920" y="1188720"/>
            <a:ext cx="2468880" cy="54864"/>
          </a:xfrm>
          <a:prstGeom prst="rect">
            <a:avLst/>
          </a:prstGeom>
          <a:solidFill>
            <a:srgbClr val="1C7293"/>
          </a:solidFill>
          <a:ln/>
        </p:spPr>
        <p:txBody>
          <a:bodyPr/>
          <a:lstStyle/>
          <a:p>
            <a:endParaRPr lang="de-DE"/>
          </a:p>
        </p:txBody>
      </p:sp>
      <p:sp>
        <p:nvSpPr>
          <p:cNvPr id="13" name="Text 11"/>
          <p:cNvSpPr/>
          <p:nvPr/>
        </p:nvSpPr>
        <p:spPr>
          <a:xfrm>
            <a:off x="6400800" y="1417320"/>
            <a:ext cx="2103120" cy="320040"/>
          </a:xfrm>
          <a:prstGeom prst="rect">
            <a:avLst/>
          </a:prstGeom>
          <a:noFill/>
          <a:ln/>
        </p:spPr>
        <p:txBody>
          <a:bodyPr wrap="square" lIns="0" tIns="0" rIns="0" bIns="0" rtlCol="0" anchor="ctr"/>
          <a:lstStyle/>
          <a:p>
            <a:pPr marL="0" indent="0">
              <a:buNone/>
            </a:pPr>
            <a:r>
              <a:rPr lang="en-US" sz="1500" b="1" dirty="0">
                <a:solidFill>
                  <a:srgbClr val="1C7293"/>
                </a:solidFill>
                <a:latin typeface="Calibri" pitchFamily="34" charset="0"/>
                <a:ea typeface="Calibri" pitchFamily="34" charset="-122"/>
                <a:cs typeface="Calibri" pitchFamily="34" charset="-120"/>
              </a:rPr>
              <a:t>Swing GUI</a:t>
            </a:r>
            <a:endParaRPr lang="en-US" sz="1500" dirty="0"/>
          </a:p>
        </p:txBody>
      </p:sp>
      <p:sp>
        <p:nvSpPr>
          <p:cNvPr id="14" name="Text 12"/>
          <p:cNvSpPr/>
          <p:nvPr/>
        </p:nvSpPr>
        <p:spPr>
          <a:xfrm>
            <a:off x="6400800" y="1828800"/>
            <a:ext cx="2103120" cy="10058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Desktop-Client für</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Aussendienstmitarbeiter,</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zwei Listen + Anfrage-Button</a:t>
            </a:r>
            <a:endParaRPr lang="en-US" sz="1200" dirty="0"/>
          </a:p>
        </p:txBody>
      </p:sp>
      <p:sp>
        <p:nvSpPr>
          <p:cNvPr id="15" name="Text 13"/>
          <p:cNvSpPr/>
          <p:nvPr/>
        </p:nvSpPr>
        <p:spPr>
          <a:xfrm>
            <a:off x="731520" y="3291840"/>
            <a:ext cx="7680960" cy="320040"/>
          </a:xfrm>
          <a:prstGeom prst="rect">
            <a:avLst/>
          </a:prstGeom>
          <a:noFill/>
          <a:ln/>
        </p:spPr>
        <p:txBody>
          <a:bodyPr wrap="square" lIns="0" tIns="0" rIns="0" bIns="0" rtlCol="0" anchor="ctr"/>
          <a:lstStyle/>
          <a:p>
            <a:pPr marL="0" indent="0">
              <a:buNone/>
            </a:pPr>
            <a:r>
              <a:rPr lang="en-US" sz="1600" b="1" dirty="0">
                <a:solidFill>
                  <a:srgbClr val="0F1B2D"/>
                </a:solidFill>
                <a:latin typeface="Calibri" pitchFamily="34" charset="0"/>
                <a:ea typeface="Calibri" pitchFamily="34" charset="-122"/>
                <a:cs typeface="Calibri" pitchFamily="34" charset="-120"/>
              </a:rPr>
              <a:t>Was wir implementiert haben</a:t>
            </a:r>
            <a:endParaRPr lang="en-US" sz="1600" dirty="0"/>
          </a:p>
        </p:txBody>
      </p:sp>
      <p:sp>
        <p:nvSpPr>
          <p:cNvPr id="16" name="Shape 14"/>
          <p:cNvSpPr/>
          <p:nvPr/>
        </p:nvSpPr>
        <p:spPr>
          <a:xfrm>
            <a:off x="731520" y="3703320"/>
            <a:ext cx="795528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17" name="Text 15"/>
          <p:cNvSpPr/>
          <p:nvPr/>
        </p:nvSpPr>
        <p:spPr>
          <a:xfrm>
            <a:off x="1005840" y="3794760"/>
            <a:ext cx="7406640" cy="1005840"/>
          </a:xfrm>
          <a:prstGeom prst="rect">
            <a:avLst/>
          </a:prstGeom>
          <a:noFill/>
          <a:ln/>
        </p:spPr>
        <p:txBody>
          <a:bodyPr wrap="square" rtlCol="0" anchor="t"/>
          <a:lstStyle/>
          <a:p>
            <a:pPr marL="0" indent="0">
              <a:buNone/>
            </a:pPr>
            <a:r>
              <a:rPr lang="en-US" sz="1300" dirty="0">
                <a:solidFill>
                  <a:srgbClr val="1E293B"/>
                </a:solidFill>
                <a:latin typeface="Calibri" pitchFamily="34" charset="0"/>
                <a:ea typeface="Calibri" pitchFamily="34" charset="-122"/>
                <a:cs typeface="Calibri" pitchFamily="34" charset="-120"/>
              </a:rPr>
              <a:t>Wir haben einen Client-Stub bekommen und genau zwei Dateien </a:t>
            </a:r>
            <a:r>
              <a:rPr lang="en-US" sz="1300" dirty="0" err="1">
                <a:solidFill>
                  <a:srgbClr val="1E293B"/>
                </a:solidFill>
                <a:latin typeface="Calibri" pitchFamily="34" charset="0"/>
                <a:ea typeface="Calibri" pitchFamily="34" charset="-122"/>
                <a:cs typeface="Calibri" pitchFamily="34" charset="-120"/>
              </a:rPr>
              <a:t>implementiert</a:t>
            </a:r>
            <a:r>
              <a:rPr lang="en-US" sz="1300" dirty="0">
                <a:solidFill>
                  <a:srgbClr val="1E293B"/>
                </a:solidFill>
                <a:latin typeface="Calibri" pitchFamily="34" charset="0"/>
                <a:ea typeface="Calibri" pitchFamily="34" charset="-122"/>
                <a:cs typeface="Calibri" pitchFamily="34" charset="-120"/>
              </a:rPr>
              <a:t>:</a:t>
            </a:r>
            <a:endParaRPr lang="en-US" sz="1300" dirty="0"/>
          </a:p>
          <a:p>
            <a:pPr marL="0" indent="0">
              <a:buNone/>
            </a:pPr>
            <a:r>
              <a:rPr lang="en-US" sz="1200" b="1" dirty="0">
                <a:solidFill>
                  <a:srgbClr val="065A82"/>
                </a:solidFill>
                <a:latin typeface="Consolas" pitchFamily="34" charset="0"/>
                <a:ea typeface="Consolas" pitchFamily="34" charset="-122"/>
                <a:cs typeface="Consolas" pitchFamily="34" charset="-120"/>
              </a:rPr>
              <a:t>MessageReceiver.java</a:t>
            </a:r>
            <a:endParaRPr lang="en-US" sz="1300" dirty="0"/>
          </a:p>
          <a:p>
            <a:pPr marL="0" indent="0">
              <a:buNone/>
            </a:pPr>
            <a:r>
              <a:rPr lang="en-US" sz="1200" dirty="0">
                <a:solidFill>
                  <a:srgbClr val="64748B"/>
                </a:solidFill>
                <a:latin typeface="Calibri" pitchFamily="34" charset="0"/>
                <a:ea typeface="Calibri" pitchFamily="34" charset="-122"/>
                <a:cs typeface="Calibri" pitchFamily="34" charset="-120"/>
              </a:rPr>
              <a:t>  JmsListener für Topics: neue Jobs empfangen + Zuweisungen empfangen</a:t>
            </a:r>
            <a:endParaRPr lang="en-US" sz="1300" dirty="0"/>
          </a:p>
          <a:p>
            <a:pPr marL="0" indent="0">
              <a:buNone/>
            </a:pPr>
            <a:r>
              <a:rPr lang="en-US" sz="1200" b="1" dirty="0">
                <a:solidFill>
                  <a:srgbClr val="065A82"/>
                </a:solidFill>
                <a:latin typeface="Consolas" pitchFamily="34" charset="0"/>
                <a:ea typeface="Consolas" pitchFamily="34" charset="-122"/>
                <a:cs typeface="Consolas" pitchFamily="34" charset="-120"/>
              </a:rPr>
              <a:t>MessageSender.java</a:t>
            </a:r>
            <a:endParaRPr lang="en-US" sz="1300" dirty="0"/>
          </a:p>
          <a:p>
            <a:pPr marL="0" indent="0">
              <a:buNone/>
            </a:pPr>
            <a:r>
              <a:rPr lang="en-US" sz="1200" dirty="0">
                <a:solidFill>
                  <a:srgbClr val="64748B"/>
                </a:solidFill>
                <a:latin typeface="Calibri" pitchFamily="34" charset="0"/>
                <a:ea typeface="Calibri" pitchFamily="34" charset="-122"/>
                <a:cs typeface="Calibri" pitchFamily="34" charset="-120"/>
              </a:rPr>
              <a:t>  Auftragsanforderung über Queue an Disposition senden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2600" b="1" dirty="0">
                <a:solidFill>
                  <a:srgbClr val="0F1B2D"/>
                </a:solidFill>
                <a:latin typeface="Georgia" pitchFamily="34" charset="0"/>
                <a:ea typeface="Georgia" pitchFamily="34" charset="-122"/>
                <a:cs typeface="Georgia" pitchFamily="34" charset="-120"/>
              </a:rPr>
              <a:t>Code: MessageReceiver.java</a:t>
            </a:r>
            <a:endParaRPr lang="en-US" sz="2600" dirty="0"/>
          </a:p>
        </p:txBody>
      </p:sp>
      <p:sp>
        <p:nvSpPr>
          <p:cNvPr id="3" name="Shape 1"/>
          <p:cNvSpPr/>
          <p:nvPr/>
        </p:nvSpPr>
        <p:spPr>
          <a:xfrm>
            <a:off x="457200" y="914400"/>
            <a:ext cx="5303520" cy="3931920"/>
          </a:xfrm>
          <a:prstGeom prst="rect">
            <a:avLst/>
          </a:prstGeom>
          <a:solidFill>
            <a:srgbClr val="1E293B"/>
          </a:solidFill>
          <a:ln/>
          <a:effectLst>
            <a:outerShdw blurRad="50800" dist="25400" dir="8100000" algn="bl" rotWithShape="0">
              <a:srgbClr val="000000">
                <a:alpha val="10000"/>
              </a:srgbClr>
            </a:outerShdw>
          </a:effectLst>
        </p:spPr>
        <p:txBody>
          <a:bodyPr/>
          <a:lstStyle/>
          <a:p>
            <a:endParaRPr lang="de-DE"/>
          </a:p>
        </p:txBody>
      </p:sp>
      <p:sp>
        <p:nvSpPr>
          <p:cNvPr id="4" name="Text 2"/>
          <p:cNvSpPr/>
          <p:nvPr/>
        </p:nvSpPr>
        <p:spPr>
          <a:xfrm>
            <a:off x="640080" y="1051560"/>
            <a:ext cx="4937760" cy="3657600"/>
          </a:xfrm>
          <a:prstGeom prst="rect">
            <a:avLst/>
          </a:prstGeom>
          <a:noFill/>
          <a:ln/>
        </p:spPr>
        <p:txBody>
          <a:bodyPr wrap="square" rtlCol="0" anchor="t"/>
          <a:lstStyle/>
          <a:p>
            <a:pPr marL="0" indent="0">
              <a:buNone/>
            </a:pPr>
            <a:r>
              <a:rPr lang="en-US" sz="1000" dirty="0">
                <a:solidFill>
                  <a:srgbClr val="93C5FD"/>
                </a:solidFill>
                <a:latin typeface="Consolas" pitchFamily="34" charset="0"/>
                <a:ea typeface="Consolas" pitchFamily="34" charset="-122"/>
                <a:cs typeface="Consolas" pitchFamily="34" charset="-120"/>
              </a:rPr>
              <a:t>@JmsListener(destination = "dispo.jobs.new",</a:t>
            </a:r>
            <a:endParaRPr lang="en-US" sz="1000" dirty="0"/>
          </a:p>
          <a:p>
            <a:pPr marL="0" indent="0">
              <a:buNone/>
            </a:pPr>
            <a:r>
              <a:rPr lang="en-US" sz="1000" dirty="0">
                <a:solidFill>
                  <a:srgbClr val="93C5FD"/>
                </a:solidFill>
                <a:latin typeface="Consolas" pitchFamily="34" charset="0"/>
                <a:ea typeface="Consolas" pitchFamily="34" charset="-122"/>
                <a:cs typeface="Consolas" pitchFamily="34" charset="-120"/>
              </a:rPr>
              <a:t>             containerFactory = "myFactory")</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public void receiveNewJob(JobMessage job) {</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ui.addJobToList(job);</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a:t>
            </a:r>
            <a:endParaRPr lang="en-US" sz="1000" dirty="0"/>
          </a:p>
          <a:p>
            <a:pPr marL="0" indent="0">
              <a:buNone/>
            </a:pPr>
            <a:endParaRPr lang="en-US" sz="1000" dirty="0"/>
          </a:p>
          <a:p>
            <a:pPr marL="0" indent="0">
              <a:buNone/>
            </a:pPr>
            <a:r>
              <a:rPr lang="en-US" sz="1000" dirty="0">
                <a:solidFill>
                  <a:srgbClr val="93C5FD"/>
                </a:solidFill>
                <a:latin typeface="Consolas" pitchFamily="34" charset="0"/>
                <a:ea typeface="Consolas" pitchFamily="34" charset="-122"/>
                <a:cs typeface="Consolas" pitchFamily="34" charset="-120"/>
              </a:rPr>
              <a:t>@JmsListener(destination = "dispo.jobs.assignments",</a:t>
            </a:r>
            <a:endParaRPr lang="en-US" sz="1000" dirty="0"/>
          </a:p>
          <a:p>
            <a:pPr marL="0" indent="0">
              <a:buNone/>
            </a:pPr>
            <a:r>
              <a:rPr lang="en-US" sz="1000" dirty="0">
                <a:solidFill>
                  <a:srgbClr val="93C5FD"/>
                </a:solidFill>
                <a:latin typeface="Consolas" pitchFamily="34" charset="0"/>
                <a:ea typeface="Consolas" pitchFamily="34" charset="-122"/>
                <a:cs typeface="Consolas" pitchFamily="34" charset="-120"/>
              </a:rPr>
              <a:t>             containerFactory = "myFactory")</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public void receiveAssignment(</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JobAssignmentMessage assignment) {</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ui.assignJob(assignment);</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a:t>
            </a:r>
            <a:endParaRPr lang="en-US" sz="1000" dirty="0"/>
          </a:p>
          <a:p>
            <a:pPr marL="0" indent="0">
              <a:buNone/>
            </a:pPr>
            <a:endParaRPr lang="en-US" sz="1000" dirty="0"/>
          </a:p>
          <a:p>
            <a:pPr marL="0" indent="0">
              <a:buNone/>
            </a:pPr>
            <a:r>
              <a:rPr lang="en-US" sz="1000" i="1" dirty="0">
                <a:solidFill>
                  <a:srgbClr val="6B7280"/>
                </a:solidFill>
                <a:latin typeface="Consolas" pitchFamily="34" charset="0"/>
                <a:ea typeface="Consolas" pitchFamily="34" charset="-122"/>
                <a:cs typeface="Consolas" pitchFamily="34" charset="-120"/>
              </a:rPr>
              <a:t>// Factory: Topic-Modus aktivieren</a:t>
            </a:r>
            <a:endParaRPr lang="en-US" sz="1000" dirty="0"/>
          </a:p>
          <a:p>
            <a:pPr marL="0" indent="0">
              <a:buNone/>
            </a:pPr>
            <a:r>
              <a:rPr lang="en-US" sz="1000" b="1" dirty="0">
                <a:solidFill>
                  <a:srgbClr val="FCD34D"/>
                </a:solidFill>
                <a:latin typeface="Consolas" pitchFamily="34" charset="0"/>
                <a:ea typeface="Consolas" pitchFamily="34" charset="-122"/>
                <a:cs typeface="Consolas" pitchFamily="34" charset="-120"/>
              </a:rPr>
              <a:t>factory.setPubSubDomain(true);</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factory.setMessageConverter(</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jacksonJmsMessageConverter());</a:t>
            </a:r>
            <a:endParaRPr lang="en-US" sz="1000" dirty="0"/>
          </a:p>
        </p:txBody>
      </p:sp>
      <p:sp>
        <p:nvSpPr>
          <p:cNvPr id="5" name="Shape 3"/>
          <p:cNvSpPr/>
          <p:nvPr/>
        </p:nvSpPr>
        <p:spPr>
          <a:xfrm>
            <a:off x="5943600" y="914400"/>
            <a:ext cx="2834640" cy="9601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6" name="Shape 4"/>
          <p:cNvSpPr/>
          <p:nvPr/>
        </p:nvSpPr>
        <p:spPr>
          <a:xfrm>
            <a:off x="5943600" y="914400"/>
            <a:ext cx="54864" cy="960120"/>
          </a:xfrm>
          <a:prstGeom prst="rect">
            <a:avLst/>
          </a:prstGeom>
          <a:solidFill>
            <a:srgbClr val="065A82"/>
          </a:solidFill>
          <a:ln/>
        </p:spPr>
        <p:txBody>
          <a:bodyPr/>
          <a:lstStyle/>
          <a:p>
            <a:endParaRPr lang="de-DE"/>
          </a:p>
        </p:txBody>
      </p:sp>
      <p:sp>
        <p:nvSpPr>
          <p:cNvPr id="7" name="Text 5"/>
          <p:cNvSpPr/>
          <p:nvPr/>
        </p:nvSpPr>
        <p:spPr>
          <a:xfrm>
            <a:off x="6172200" y="1005840"/>
            <a:ext cx="246888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Listener 1: Neue Jobs</a:t>
            </a:r>
            <a:endParaRPr lang="en-US" sz="1200" dirty="0"/>
          </a:p>
        </p:txBody>
      </p:sp>
      <p:sp>
        <p:nvSpPr>
          <p:cNvPr id="8" name="Text 6"/>
          <p:cNvSpPr/>
          <p:nvPr/>
        </p:nvSpPr>
        <p:spPr>
          <a:xfrm>
            <a:off x="6172200" y="1325880"/>
            <a:ext cx="2468880" cy="45720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Hört auf Topic dispo.jobs.new</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Alle Clients empfangen eine Kopie</a:t>
            </a:r>
            <a:endParaRPr lang="en-US" sz="1050" dirty="0"/>
          </a:p>
        </p:txBody>
      </p:sp>
      <p:sp>
        <p:nvSpPr>
          <p:cNvPr id="9" name="Shape 7"/>
          <p:cNvSpPr/>
          <p:nvPr/>
        </p:nvSpPr>
        <p:spPr>
          <a:xfrm>
            <a:off x="5943600" y="2103120"/>
            <a:ext cx="2834640" cy="9601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10" name="Shape 8"/>
          <p:cNvSpPr/>
          <p:nvPr/>
        </p:nvSpPr>
        <p:spPr>
          <a:xfrm>
            <a:off x="5943600" y="2103120"/>
            <a:ext cx="54864" cy="960120"/>
          </a:xfrm>
          <a:prstGeom prst="rect">
            <a:avLst/>
          </a:prstGeom>
          <a:solidFill>
            <a:srgbClr val="1C7293"/>
          </a:solidFill>
          <a:ln/>
        </p:spPr>
        <p:txBody>
          <a:bodyPr/>
          <a:lstStyle/>
          <a:p>
            <a:endParaRPr lang="de-DE"/>
          </a:p>
        </p:txBody>
      </p:sp>
      <p:sp>
        <p:nvSpPr>
          <p:cNvPr id="11" name="Text 9"/>
          <p:cNvSpPr/>
          <p:nvPr/>
        </p:nvSpPr>
        <p:spPr>
          <a:xfrm>
            <a:off x="6172200" y="2194560"/>
            <a:ext cx="246888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Listener 2: Zuweisungen</a:t>
            </a:r>
            <a:endParaRPr lang="en-US" sz="1200" dirty="0"/>
          </a:p>
        </p:txBody>
      </p:sp>
      <p:sp>
        <p:nvSpPr>
          <p:cNvPr id="12" name="Text 10"/>
          <p:cNvSpPr/>
          <p:nvPr/>
        </p:nvSpPr>
        <p:spPr>
          <a:xfrm>
            <a:off x="6172200" y="2514600"/>
            <a:ext cx="2468880" cy="45720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Hört auf Topic dispo.jobs.assignments</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Job wird aus offener Liste entfernt</a:t>
            </a:r>
            <a:endParaRPr lang="en-US" sz="1050" dirty="0"/>
          </a:p>
        </p:txBody>
      </p:sp>
      <p:sp>
        <p:nvSpPr>
          <p:cNvPr id="13" name="Shape 11"/>
          <p:cNvSpPr/>
          <p:nvPr/>
        </p:nvSpPr>
        <p:spPr>
          <a:xfrm>
            <a:off x="5943600" y="3291840"/>
            <a:ext cx="2834640" cy="9601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14" name="Shape 12"/>
          <p:cNvSpPr/>
          <p:nvPr/>
        </p:nvSpPr>
        <p:spPr>
          <a:xfrm>
            <a:off x="5943600" y="3291840"/>
            <a:ext cx="54864" cy="960120"/>
          </a:xfrm>
          <a:prstGeom prst="rect">
            <a:avLst/>
          </a:prstGeom>
          <a:solidFill>
            <a:srgbClr val="F59E0B"/>
          </a:solidFill>
          <a:ln/>
        </p:spPr>
        <p:txBody>
          <a:bodyPr/>
          <a:lstStyle/>
          <a:p>
            <a:endParaRPr lang="de-DE"/>
          </a:p>
        </p:txBody>
      </p:sp>
      <p:sp>
        <p:nvSpPr>
          <p:cNvPr id="15" name="Text 13"/>
          <p:cNvSpPr/>
          <p:nvPr/>
        </p:nvSpPr>
        <p:spPr>
          <a:xfrm>
            <a:off x="6172200" y="3383280"/>
            <a:ext cx="2468880" cy="27432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setPubSubDomain(true)</a:t>
            </a:r>
            <a:endParaRPr lang="en-US" sz="1200" dirty="0"/>
          </a:p>
        </p:txBody>
      </p:sp>
      <p:sp>
        <p:nvSpPr>
          <p:cNvPr id="16" name="Text 14"/>
          <p:cNvSpPr/>
          <p:nvPr/>
        </p:nvSpPr>
        <p:spPr>
          <a:xfrm>
            <a:off x="6172200" y="3703320"/>
            <a:ext cx="2468880" cy="45720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Konfiguriert Factory für Topics</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Ohne diese Zeile: keine Nachrichten!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2600" b="1" dirty="0">
                <a:solidFill>
                  <a:srgbClr val="0F1B2D"/>
                </a:solidFill>
                <a:latin typeface="Georgia" pitchFamily="34" charset="0"/>
                <a:ea typeface="Georgia" pitchFamily="34" charset="-122"/>
                <a:cs typeface="Georgia" pitchFamily="34" charset="-120"/>
              </a:rPr>
              <a:t>Code: MessageSender.java</a:t>
            </a:r>
            <a:endParaRPr lang="en-US" sz="2600" dirty="0"/>
          </a:p>
        </p:txBody>
      </p:sp>
      <p:sp>
        <p:nvSpPr>
          <p:cNvPr id="3" name="Shape 1"/>
          <p:cNvSpPr/>
          <p:nvPr/>
        </p:nvSpPr>
        <p:spPr>
          <a:xfrm>
            <a:off x="457200" y="914400"/>
            <a:ext cx="5303520" cy="2926080"/>
          </a:xfrm>
          <a:prstGeom prst="rect">
            <a:avLst/>
          </a:prstGeom>
          <a:solidFill>
            <a:srgbClr val="1E293B"/>
          </a:solidFill>
          <a:ln/>
          <a:effectLst>
            <a:outerShdw blurRad="50800" dist="25400" dir="8100000" algn="bl" rotWithShape="0">
              <a:srgbClr val="000000">
                <a:alpha val="10000"/>
              </a:srgbClr>
            </a:outerShdw>
          </a:effectLst>
        </p:spPr>
        <p:txBody>
          <a:bodyPr/>
          <a:lstStyle/>
          <a:p>
            <a:endParaRPr lang="de-DE"/>
          </a:p>
        </p:txBody>
      </p:sp>
      <p:sp>
        <p:nvSpPr>
          <p:cNvPr id="4" name="Text 2"/>
          <p:cNvSpPr/>
          <p:nvPr/>
        </p:nvSpPr>
        <p:spPr>
          <a:xfrm>
            <a:off x="640080" y="1051560"/>
            <a:ext cx="4937760" cy="2651760"/>
          </a:xfrm>
          <a:prstGeom prst="rect">
            <a:avLst/>
          </a:prstGeom>
          <a:noFill/>
          <a:ln/>
        </p:spPr>
        <p:txBody>
          <a:bodyPr wrap="square" rtlCol="0" anchor="t"/>
          <a:lstStyle/>
          <a:p>
            <a:pPr marL="0" indent="0">
              <a:buNone/>
            </a:pPr>
            <a:r>
              <a:rPr lang="en-US" sz="1050" dirty="0">
                <a:solidFill>
                  <a:srgbClr val="E2E8F0"/>
                </a:solidFill>
                <a:latin typeface="Consolas" pitchFamily="34" charset="0"/>
                <a:ea typeface="Consolas" pitchFamily="34" charset="-122"/>
                <a:cs typeface="Consolas" pitchFamily="34" charset="-120"/>
              </a:rPr>
              <a:t>void requestJobFromDispo(JobMessage job) {</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JobRequestMessage request =</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new JobRequestMessage();</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request.setJobnumber(job.getJobnumber());</a:t>
            </a:r>
            <a:endParaRPr lang="en-US" sz="1050" dirty="0"/>
          </a:p>
          <a:p>
            <a:pPr marL="0" indent="0">
              <a:buNone/>
            </a:pPr>
            <a:r>
              <a:rPr lang="en-US" sz="1050" dirty="0">
                <a:solidFill>
                  <a:srgbClr val="93C5FD"/>
                </a:solidFill>
                <a:latin typeface="Consolas" pitchFamily="34" charset="0"/>
                <a:ea typeface="Consolas" pitchFamily="34" charset="-122"/>
                <a:cs typeface="Consolas" pitchFamily="34" charset="-120"/>
              </a:rPr>
              <a:t>    request.setRequestingEmployee("Gruppe4");</a:t>
            </a:r>
            <a:endParaRPr lang="en-US" sz="1050" dirty="0"/>
          </a:p>
          <a:p>
            <a:pPr marL="0" indent="0">
              <a:buNone/>
            </a:pPr>
            <a:endParaRPr lang="en-US" sz="1050" dirty="0"/>
          </a:p>
          <a:p>
            <a:pPr marL="0" indent="0">
              <a:buNone/>
            </a:pPr>
            <a:r>
              <a:rPr lang="en-US" sz="1050" b="1" dirty="0">
                <a:solidFill>
                  <a:srgbClr val="FCD34D"/>
                </a:solidFill>
                <a:latin typeface="Consolas" pitchFamily="34" charset="0"/>
                <a:ea typeface="Consolas" pitchFamily="34" charset="-122"/>
                <a:cs typeface="Consolas" pitchFamily="34" charset="-120"/>
              </a:rPr>
              <a:t>    jmsTemplate.setPubSubDomain(false);</a:t>
            </a:r>
            <a:endParaRPr lang="en-US" sz="1050" dirty="0"/>
          </a:p>
          <a:p>
            <a:pPr marL="0" indent="0">
              <a:buNone/>
            </a:pPr>
            <a:r>
              <a:rPr lang="en-US" sz="1050" i="1" dirty="0">
                <a:solidFill>
                  <a:srgbClr val="6B7280"/>
                </a:solidFill>
                <a:latin typeface="Consolas" pitchFamily="34" charset="0"/>
                <a:ea typeface="Consolas" pitchFamily="34" charset="-122"/>
                <a:cs typeface="Consolas" pitchFamily="34" charset="-120"/>
              </a:rPr>
              <a:t>    // Queue, nicht Topic!</a:t>
            </a:r>
            <a:endParaRPr lang="en-US" sz="1050" dirty="0"/>
          </a:p>
          <a:p>
            <a:pPr marL="0" indent="0">
              <a:buNone/>
            </a:pP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jmsTemplate.convertAndSend(</a:t>
            </a:r>
            <a:endParaRPr lang="en-US" sz="1050" dirty="0"/>
          </a:p>
          <a:p>
            <a:pPr marL="0" indent="0">
              <a:buNone/>
            </a:pPr>
            <a:r>
              <a:rPr lang="en-US" sz="1050" dirty="0">
                <a:solidFill>
                  <a:srgbClr val="93C5FD"/>
                </a:solidFill>
                <a:latin typeface="Consolas" pitchFamily="34" charset="0"/>
                <a:ea typeface="Consolas" pitchFamily="34" charset="-122"/>
                <a:cs typeface="Consolas" pitchFamily="34" charset="-120"/>
              </a:rPr>
              <a:t>        "dispo.jobs.requestAssignment",</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request);</a:t>
            </a:r>
            <a:endParaRPr lang="en-US" sz="1050" dirty="0"/>
          </a:p>
        </p:txBody>
      </p:sp>
      <p:sp>
        <p:nvSpPr>
          <p:cNvPr id="5" name="Shape 3"/>
          <p:cNvSpPr/>
          <p:nvPr/>
        </p:nvSpPr>
        <p:spPr>
          <a:xfrm>
            <a:off x="5943600" y="914400"/>
            <a:ext cx="2834640" cy="1828800"/>
          </a:xfrm>
          <a:prstGeom prst="rect">
            <a:avLst/>
          </a:prstGeom>
          <a:solidFill>
            <a:srgbClr val="0F1B2D"/>
          </a:solidFill>
          <a:ln/>
          <a:effectLst>
            <a:outerShdw blurRad="50800" dist="25400" dir="8100000" algn="bl" rotWithShape="0">
              <a:srgbClr val="000000">
                <a:alpha val="10000"/>
              </a:srgbClr>
            </a:outerShdw>
          </a:effectLst>
        </p:spPr>
        <p:txBody>
          <a:bodyPr/>
          <a:lstStyle/>
          <a:p>
            <a:endParaRPr lang="de-DE"/>
          </a:p>
        </p:txBody>
      </p:sp>
      <p:sp>
        <p:nvSpPr>
          <p:cNvPr id="6" name="Text 4"/>
          <p:cNvSpPr/>
          <p:nvPr/>
        </p:nvSpPr>
        <p:spPr>
          <a:xfrm>
            <a:off x="6126480" y="1051560"/>
            <a:ext cx="2468880" cy="27432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Der entscheidende Unterschied</a:t>
            </a:r>
            <a:endParaRPr lang="en-US" sz="1300" dirty="0"/>
          </a:p>
        </p:txBody>
      </p:sp>
      <p:sp>
        <p:nvSpPr>
          <p:cNvPr id="7" name="Text 5"/>
          <p:cNvSpPr/>
          <p:nvPr/>
        </p:nvSpPr>
        <p:spPr>
          <a:xfrm>
            <a:off x="6126480" y="1417320"/>
            <a:ext cx="2468880" cy="1188720"/>
          </a:xfrm>
          <a:prstGeom prst="rect">
            <a:avLst/>
          </a:prstGeom>
          <a:noFill/>
          <a:ln/>
        </p:spPr>
        <p:txBody>
          <a:bodyPr wrap="square"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Receiver:</a:t>
            </a:r>
            <a:endParaRPr lang="en-US" sz="1100" dirty="0"/>
          </a:p>
          <a:p>
            <a:pPr marL="0" indent="0">
              <a:buNone/>
            </a:pPr>
            <a:r>
              <a:rPr lang="en-US" sz="1000" dirty="0">
                <a:solidFill>
                  <a:srgbClr val="93C5FD"/>
                </a:solidFill>
                <a:latin typeface="Consolas" pitchFamily="34" charset="0"/>
                <a:ea typeface="Consolas" pitchFamily="34" charset="-122"/>
                <a:cs typeface="Consolas" pitchFamily="34" charset="-120"/>
              </a:rPr>
              <a:t>setPubSubDomain(true)</a:t>
            </a:r>
            <a:endParaRPr lang="en-US" sz="1100" dirty="0"/>
          </a:p>
          <a:p>
            <a:pPr marL="0" indent="0">
              <a:buNone/>
            </a:pPr>
            <a:r>
              <a:rPr lang="en-US" sz="1100" dirty="0">
                <a:solidFill>
                  <a:srgbClr val="CBD5E1"/>
                </a:solidFill>
                <a:latin typeface="Calibri" pitchFamily="34" charset="0"/>
                <a:ea typeface="Calibri" pitchFamily="34" charset="-122"/>
                <a:cs typeface="Calibri" pitchFamily="34" charset="-120"/>
              </a:rPr>
              <a:t>→ Topic (Pub/Sub)</a:t>
            </a:r>
            <a:endParaRPr lang="en-US" sz="1100" dirty="0"/>
          </a:p>
          <a:p>
            <a:pPr marL="0" indent="0">
              <a:buNone/>
            </a:pPr>
            <a:endParaRPr lang="en-US" sz="1100" dirty="0"/>
          </a:p>
          <a:p>
            <a:pPr marL="0" indent="0">
              <a:buNone/>
            </a:pPr>
            <a:r>
              <a:rPr lang="en-US" sz="1100" b="1" dirty="0">
                <a:solidFill>
                  <a:srgbClr val="FFFFFF"/>
                </a:solidFill>
                <a:latin typeface="Calibri" pitchFamily="34" charset="0"/>
                <a:ea typeface="Calibri" pitchFamily="34" charset="-122"/>
                <a:cs typeface="Calibri" pitchFamily="34" charset="-120"/>
              </a:rPr>
              <a:t>Sender:</a:t>
            </a:r>
            <a:endParaRPr lang="en-US" sz="1100" dirty="0"/>
          </a:p>
          <a:p>
            <a:pPr marL="0" indent="0">
              <a:buNone/>
            </a:pPr>
            <a:r>
              <a:rPr lang="en-US" sz="1000" dirty="0">
                <a:solidFill>
                  <a:srgbClr val="FCD34D"/>
                </a:solidFill>
                <a:latin typeface="Consolas" pitchFamily="34" charset="0"/>
                <a:ea typeface="Consolas" pitchFamily="34" charset="-122"/>
                <a:cs typeface="Consolas" pitchFamily="34" charset="-120"/>
              </a:rPr>
              <a:t>setPubSubDomain(false)</a:t>
            </a:r>
            <a:endParaRPr lang="en-US" sz="1100" dirty="0"/>
          </a:p>
          <a:p>
            <a:pPr marL="0" indent="0">
              <a:buNone/>
            </a:pPr>
            <a:r>
              <a:rPr lang="en-US" sz="1100" dirty="0">
                <a:solidFill>
                  <a:srgbClr val="CBD5E1"/>
                </a:solidFill>
                <a:latin typeface="Calibri" pitchFamily="34" charset="0"/>
                <a:ea typeface="Calibri" pitchFamily="34" charset="-122"/>
                <a:cs typeface="Calibri" pitchFamily="34" charset="-120"/>
              </a:rPr>
              <a:t>→ Queue (Point-to-Point)</a:t>
            </a:r>
            <a:endParaRPr lang="en-US" sz="1100" dirty="0"/>
          </a:p>
        </p:txBody>
      </p:sp>
      <p:sp>
        <p:nvSpPr>
          <p:cNvPr id="8" name="Shape 6"/>
          <p:cNvSpPr/>
          <p:nvPr/>
        </p:nvSpPr>
        <p:spPr>
          <a:xfrm>
            <a:off x="457200" y="4069080"/>
            <a:ext cx="8229600" cy="777240"/>
          </a:xfrm>
          <a:prstGeom prst="rect">
            <a:avLst/>
          </a:prstGeom>
          <a:solidFill>
            <a:srgbClr val="E0F2FE"/>
          </a:solidFill>
          <a:ln/>
        </p:spPr>
        <p:txBody>
          <a:bodyPr/>
          <a:lstStyle/>
          <a:p>
            <a:endParaRPr lang="de-DE"/>
          </a:p>
        </p:txBody>
      </p:sp>
      <p:sp>
        <p:nvSpPr>
          <p:cNvPr id="9" name="Text 7"/>
          <p:cNvSpPr/>
          <p:nvPr/>
        </p:nvSpPr>
        <p:spPr>
          <a:xfrm>
            <a:off x="731520" y="4069080"/>
            <a:ext cx="7680960" cy="77724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Eine einzige Boolean-Konfiguration </a:t>
            </a:r>
            <a:r>
              <a:rPr lang="en-US" sz="1200" b="1" dirty="0">
                <a:solidFill>
                  <a:srgbClr val="065A82"/>
                </a:solidFill>
                <a:latin typeface="Consolas" pitchFamily="34" charset="0"/>
                <a:ea typeface="Consolas" pitchFamily="34" charset="-122"/>
                <a:cs typeface="Consolas" pitchFamily="34" charset="-120"/>
              </a:rPr>
              <a:t>(setPubSubDomain) </a:t>
            </a:r>
            <a:r>
              <a:rPr lang="en-US" sz="1300" dirty="0">
                <a:solidFill>
                  <a:srgbClr val="1E293B"/>
                </a:solidFill>
                <a:latin typeface="Calibri" pitchFamily="34" charset="0"/>
                <a:ea typeface="Calibri" pitchFamily="34" charset="-122"/>
                <a:cs typeface="Calibri" pitchFamily="34" charset="-120"/>
              </a:rPr>
              <a:t>entscheidet, ob mit einem Topic oder einer Queue kommuniziert </a:t>
            </a:r>
            <a:r>
              <a:rPr lang="en-US" sz="1300" dirty="0" err="1">
                <a:solidFill>
                  <a:srgbClr val="1E293B"/>
                </a:solidFill>
                <a:latin typeface="Calibri" pitchFamily="34" charset="0"/>
                <a:ea typeface="Calibri" pitchFamily="34" charset="-122"/>
                <a:cs typeface="Calibri" pitchFamily="34" charset="-120"/>
              </a:rPr>
              <a:t>wird</a:t>
            </a:r>
            <a:r>
              <a:rPr lang="en-US" sz="1300" dirty="0">
                <a:solidFill>
                  <a:srgbClr val="1E293B"/>
                </a:solidFill>
                <a:latin typeface="Calibri" pitchFamily="34" charset="0"/>
                <a:ea typeface="Calibri" pitchFamily="34" charset="-122"/>
                <a:cs typeface="Calibri" pitchFamily="34" charset="-120"/>
              </a:rPr>
              <a:t>.</a:t>
            </a:r>
            <a:r>
              <a:rPr lang="en-US" sz="1300" dirty="0"/>
              <a:t> </a:t>
            </a:r>
            <a:r>
              <a:rPr lang="en-US" sz="1300" b="1" dirty="0">
                <a:solidFill>
                  <a:srgbClr val="1E293B"/>
                </a:solidFill>
                <a:latin typeface="Calibri" pitchFamily="34" charset="0"/>
                <a:ea typeface="Calibri" pitchFamily="34" charset="-122"/>
                <a:cs typeface="Calibri" pitchFamily="34" charset="-120"/>
              </a:rPr>
              <a:t>Das ist der Kern der Implementierung.</a:t>
            </a:r>
            <a:endParaRPr lang="en-US" sz="13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Live-Demo: Der Nachrichtenkreislauf</a:t>
            </a:r>
            <a:endParaRPr lang="en-US" sz="3000" dirty="0"/>
          </a:p>
        </p:txBody>
      </p:sp>
      <p:sp>
        <p:nvSpPr>
          <p:cNvPr id="3" name="Shape 1"/>
          <p:cNvSpPr/>
          <p:nvPr/>
        </p:nvSpPr>
        <p:spPr>
          <a:xfrm>
            <a:off x="457200" y="1188720"/>
            <a:ext cx="192024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4" name="Shape 2"/>
          <p:cNvSpPr/>
          <p:nvPr/>
        </p:nvSpPr>
        <p:spPr>
          <a:xfrm>
            <a:off x="1143000" y="1371600"/>
            <a:ext cx="548640" cy="548640"/>
          </a:xfrm>
          <a:prstGeom prst="ellipse">
            <a:avLst/>
          </a:prstGeom>
          <a:solidFill>
            <a:srgbClr val="065A82"/>
          </a:solidFill>
          <a:ln/>
        </p:spPr>
        <p:txBody>
          <a:bodyPr/>
          <a:lstStyle/>
          <a:p>
            <a:endParaRPr lang="de-DE"/>
          </a:p>
        </p:txBody>
      </p:sp>
      <p:sp>
        <p:nvSpPr>
          <p:cNvPr id="5" name="Text 3"/>
          <p:cNvSpPr/>
          <p:nvPr/>
        </p:nvSpPr>
        <p:spPr>
          <a:xfrm>
            <a:off x="1143000" y="137160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594360" y="2057400"/>
            <a:ext cx="1645920" cy="274320"/>
          </a:xfrm>
          <a:prstGeom prst="rect">
            <a:avLst/>
          </a:prstGeom>
          <a:noFill/>
          <a:ln/>
        </p:spPr>
        <p:txBody>
          <a:bodyPr wrap="square" lIns="0" tIns="0" rIns="0" bIns="0" rtlCol="0" anchor="ctr"/>
          <a:lstStyle/>
          <a:p>
            <a:pPr marL="0" indent="0" algn="ctr">
              <a:buNone/>
            </a:pPr>
            <a:r>
              <a:rPr lang="en-US" sz="1400" b="1" dirty="0">
                <a:solidFill>
                  <a:srgbClr val="0F1B2D"/>
                </a:solidFill>
                <a:latin typeface="Calibri" pitchFamily="34" charset="0"/>
                <a:ea typeface="Calibri" pitchFamily="34" charset="-122"/>
                <a:cs typeface="Calibri" pitchFamily="34" charset="-120"/>
              </a:rPr>
              <a:t>App starten</a:t>
            </a:r>
            <a:endParaRPr lang="en-US" sz="1400" dirty="0"/>
          </a:p>
        </p:txBody>
      </p:sp>
      <p:sp>
        <p:nvSpPr>
          <p:cNvPr id="7" name="Text 5"/>
          <p:cNvSpPr/>
          <p:nvPr/>
        </p:nvSpPr>
        <p:spPr>
          <a:xfrm>
            <a:off x="594360" y="2423160"/>
            <a:ext cx="1645920" cy="109728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mvn spring-boot:run</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Verbindung zum ActiveMQ Broker</a:t>
            </a:r>
            <a:endParaRPr lang="en-US" sz="1100" dirty="0"/>
          </a:p>
        </p:txBody>
      </p:sp>
      <p:sp>
        <p:nvSpPr>
          <p:cNvPr id="8" name="Shape 6"/>
          <p:cNvSpPr/>
          <p:nvPr/>
        </p:nvSpPr>
        <p:spPr>
          <a:xfrm>
            <a:off x="2606040" y="1188720"/>
            <a:ext cx="192024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9" name="Shape 7"/>
          <p:cNvSpPr/>
          <p:nvPr/>
        </p:nvSpPr>
        <p:spPr>
          <a:xfrm>
            <a:off x="3291840" y="1371600"/>
            <a:ext cx="548640" cy="548640"/>
          </a:xfrm>
          <a:prstGeom prst="ellipse">
            <a:avLst/>
          </a:prstGeom>
          <a:solidFill>
            <a:srgbClr val="065A82"/>
          </a:solidFill>
          <a:ln/>
        </p:spPr>
        <p:txBody>
          <a:bodyPr/>
          <a:lstStyle/>
          <a:p>
            <a:endParaRPr lang="de-DE"/>
          </a:p>
        </p:txBody>
      </p:sp>
      <p:sp>
        <p:nvSpPr>
          <p:cNvPr id="10" name="Text 8"/>
          <p:cNvSpPr/>
          <p:nvPr/>
        </p:nvSpPr>
        <p:spPr>
          <a:xfrm>
            <a:off x="3291840" y="137160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2743200" y="2057400"/>
            <a:ext cx="1645920" cy="274320"/>
          </a:xfrm>
          <a:prstGeom prst="rect">
            <a:avLst/>
          </a:prstGeom>
          <a:noFill/>
          <a:ln/>
        </p:spPr>
        <p:txBody>
          <a:bodyPr wrap="square" lIns="0" tIns="0" rIns="0" bIns="0" rtlCol="0" anchor="ctr"/>
          <a:lstStyle/>
          <a:p>
            <a:pPr marL="0" indent="0" algn="ctr">
              <a:buNone/>
            </a:pPr>
            <a:r>
              <a:rPr lang="en-US" sz="1400" b="1" dirty="0">
                <a:solidFill>
                  <a:srgbClr val="0F1B2D"/>
                </a:solidFill>
                <a:latin typeface="Calibri" pitchFamily="34" charset="0"/>
                <a:ea typeface="Calibri" pitchFamily="34" charset="-122"/>
                <a:cs typeface="Calibri" pitchFamily="34" charset="-120"/>
              </a:rPr>
              <a:t>Jobs empfangen</a:t>
            </a:r>
            <a:endParaRPr lang="en-US" sz="1400" dirty="0"/>
          </a:p>
        </p:txBody>
      </p:sp>
      <p:sp>
        <p:nvSpPr>
          <p:cNvPr id="12" name="Text 10"/>
          <p:cNvSpPr/>
          <p:nvPr/>
        </p:nvSpPr>
        <p:spPr>
          <a:xfrm>
            <a:off x="2743200" y="2423160"/>
            <a:ext cx="1645920" cy="109728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Neue Jobs erscheinen automatisch</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(Publish-Subscribe via Topic)</a:t>
            </a:r>
            <a:endParaRPr lang="en-US" sz="1100" dirty="0"/>
          </a:p>
        </p:txBody>
      </p:sp>
      <p:sp>
        <p:nvSpPr>
          <p:cNvPr id="13" name="Shape 11"/>
          <p:cNvSpPr/>
          <p:nvPr/>
        </p:nvSpPr>
        <p:spPr>
          <a:xfrm>
            <a:off x="4754880" y="1188720"/>
            <a:ext cx="192024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14" name="Shape 12"/>
          <p:cNvSpPr/>
          <p:nvPr/>
        </p:nvSpPr>
        <p:spPr>
          <a:xfrm>
            <a:off x="5440680" y="1371600"/>
            <a:ext cx="548640" cy="548640"/>
          </a:xfrm>
          <a:prstGeom prst="ellipse">
            <a:avLst/>
          </a:prstGeom>
          <a:solidFill>
            <a:srgbClr val="065A82"/>
          </a:solidFill>
          <a:ln/>
        </p:spPr>
        <p:txBody>
          <a:bodyPr/>
          <a:lstStyle/>
          <a:p>
            <a:endParaRPr lang="de-DE"/>
          </a:p>
        </p:txBody>
      </p:sp>
      <p:sp>
        <p:nvSpPr>
          <p:cNvPr id="15" name="Text 13"/>
          <p:cNvSpPr/>
          <p:nvPr/>
        </p:nvSpPr>
        <p:spPr>
          <a:xfrm>
            <a:off x="5440680" y="137160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4892040" y="2057400"/>
            <a:ext cx="1645920" cy="274320"/>
          </a:xfrm>
          <a:prstGeom prst="rect">
            <a:avLst/>
          </a:prstGeom>
          <a:noFill/>
          <a:ln/>
        </p:spPr>
        <p:txBody>
          <a:bodyPr wrap="square" lIns="0" tIns="0" rIns="0" bIns="0" rtlCol="0" anchor="ctr"/>
          <a:lstStyle/>
          <a:p>
            <a:pPr marL="0" indent="0" algn="ctr">
              <a:buNone/>
            </a:pPr>
            <a:r>
              <a:rPr lang="en-US" sz="1400" b="1" dirty="0">
                <a:solidFill>
                  <a:srgbClr val="0F1B2D"/>
                </a:solidFill>
                <a:latin typeface="Calibri" pitchFamily="34" charset="0"/>
                <a:ea typeface="Calibri" pitchFamily="34" charset="-122"/>
                <a:cs typeface="Calibri" pitchFamily="34" charset="-120"/>
              </a:rPr>
              <a:t>Job anfordern</a:t>
            </a:r>
            <a:endParaRPr lang="en-US" sz="1400" dirty="0"/>
          </a:p>
        </p:txBody>
      </p:sp>
      <p:sp>
        <p:nvSpPr>
          <p:cNvPr id="17" name="Text 15"/>
          <p:cNvSpPr/>
          <p:nvPr/>
        </p:nvSpPr>
        <p:spPr>
          <a:xfrm>
            <a:off x="4892040" y="2423160"/>
            <a:ext cx="1645920" cy="109728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Job selektieren, Button klicken</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(Point-to-Point via Queue)</a:t>
            </a:r>
            <a:endParaRPr lang="en-US" sz="1100" dirty="0"/>
          </a:p>
        </p:txBody>
      </p:sp>
      <p:sp>
        <p:nvSpPr>
          <p:cNvPr id="18" name="Shape 16"/>
          <p:cNvSpPr/>
          <p:nvPr/>
        </p:nvSpPr>
        <p:spPr>
          <a:xfrm>
            <a:off x="6903720" y="1188720"/>
            <a:ext cx="192024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19" name="Shape 17"/>
          <p:cNvSpPr/>
          <p:nvPr/>
        </p:nvSpPr>
        <p:spPr>
          <a:xfrm>
            <a:off x="7589520" y="1371600"/>
            <a:ext cx="548640" cy="548640"/>
          </a:xfrm>
          <a:prstGeom prst="ellipse">
            <a:avLst/>
          </a:prstGeom>
          <a:solidFill>
            <a:srgbClr val="065A82"/>
          </a:solidFill>
          <a:ln/>
        </p:spPr>
        <p:txBody>
          <a:bodyPr/>
          <a:lstStyle/>
          <a:p>
            <a:endParaRPr lang="de-DE"/>
          </a:p>
        </p:txBody>
      </p:sp>
      <p:sp>
        <p:nvSpPr>
          <p:cNvPr id="20" name="Text 18"/>
          <p:cNvSpPr/>
          <p:nvPr/>
        </p:nvSpPr>
        <p:spPr>
          <a:xfrm>
            <a:off x="7589520" y="137160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9"/>
          <p:cNvSpPr/>
          <p:nvPr/>
        </p:nvSpPr>
        <p:spPr>
          <a:xfrm>
            <a:off x="7040880" y="2057400"/>
            <a:ext cx="1645920" cy="274320"/>
          </a:xfrm>
          <a:prstGeom prst="rect">
            <a:avLst/>
          </a:prstGeom>
          <a:noFill/>
          <a:ln/>
        </p:spPr>
        <p:txBody>
          <a:bodyPr wrap="square" lIns="0" tIns="0" rIns="0" bIns="0" rtlCol="0" anchor="ctr"/>
          <a:lstStyle/>
          <a:p>
            <a:pPr marL="0" indent="0" algn="ctr">
              <a:buNone/>
            </a:pPr>
            <a:r>
              <a:rPr lang="en-US" sz="1400" b="1" dirty="0">
                <a:solidFill>
                  <a:srgbClr val="0F1B2D"/>
                </a:solidFill>
                <a:latin typeface="Calibri" pitchFamily="34" charset="0"/>
                <a:ea typeface="Calibri" pitchFamily="34" charset="-122"/>
                <a:cs typeface="Calibri" pitchFamily="34" charset="-120"/>
              </a:rPr>
              <a:t>Zuweisung sehen</a:t>
            </a:r>
            <a:endParaRPr lang="en-US" sz="1400" dirty="0"/>
          </a:p>
        </p:txBody>
      </p:sp>
      <p:sp>
        <p:nvSpPr>
          <p:cNvPr id="22" name="Text 20"/>
          <p:cNvSpPr/>
          <p:nvPr/>
        </p:nvSpPr>
        <p:spPr>
          <a:xfrm>
            <a:off x="7040880" y="2423160"/>
            <a:ext cx="1645920" cy="109728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Job verschwindet links,</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erscheint rechts als zugewiesen</a:t>
            </a:r>
            <a:endParaRPr lang="en-US" sz="1100" dirty="0"/>
          </a:p>
        </p:txBody>
      </p:sp>
      <p:sp>
        <p:nvSpPr>
          <p:cNvPr id="23" name="Shape 21"/>
          <p:cNvSpPr/>
          <p:nvPr/>
        </p:nvSpPr>
        <p:spPr>
          <a:xfrm>
            <a:off x="457200" y="4023360"/>
            <a:ext cx="8229600" cy="594360"/>
          </a:xfrm>
          <a:prstGeom prst="rect">
            <a:avLst/>
          </a:prstGeom>
          <a:solidFill>
            <a:srgbClr val="0F1B2D"/>
          </a:solidFill>
          <a:ln/>
        </p:spPr>
        <p:txBody>
          <a:bodyPr/>
          <a:lstStyle/>
          <a:p>
            <a:endParaRPr lang="de-DE"/>
          </a:p>
        </p:txBody>
      </p:sp>
      <p:sp>
        <p:nvSpPr>
          <p:cNvPr id="24" name="Text 22"/>
          <p:cNvSpPr/>
          <p:nvPr/>
        </p:nvSpPr>
        <p:spPr>
          <a:xfrm>
            <a:off x="731520" y="4023360"/>
            <a:ext cx="7680960" cy="5943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Kompletter Kreislauf:  Topic rein  →  Queue zur Disposition  →  Topic zurück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C7293"/>
          </a:solidFill>
          <a:ln/>
        </p:spPr>
        <p:txBody>
          <a:bodyPr/>
          <a:lstStyle/>
          <a:p>
            <a:endParaRPr lang="de-DE"/>
          </a:p>
        </p:txBody>
      </p:sp>
      <p:sp>
        <p:nvSpPr>
          <p:cNvPr id="3" name="Text 1"/>
          <p:cNvSpPr/>
          <p:nvPr/>
        </p:nvSpPr>
        <p:spPr>
          <a:xfrm>
            <a:off x="731520" y="365760"/>
            <a:ext cx="768096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Fazit &amp; Learnings</a:t>
            </a:r>
            <a:endParaRPr lang="en-US" sz="3200" dirty="0"/>
          </a:p>
        </p:txBody>
      </p:sp>
      <p:sp>
        <p:nvSpPr>
          <p:cNvPr id="4" name="Shape 2"/>
          <p:cNvSpPr/>
          <p:nvPr/>
        </p:nvSpPr>
        <p:spPr>
          <a:xfrm>
            <a:off x="731520" y="1188720"/>
            <a:ext cx="7680960" cy="685800"/>
          </a:xfrm>
          <a:prstGeom prst="rect">
            <a:avLst/>
          </a:prstGeom>
          <a:solidFill>
            <a:srgbClr val="065A82"/>
          </a:solidFill>
          <a:ln/>
        </p:spPr>
        <p:txBody>
          <a:bodyPr/>
          <a:lstStyle/>
          <a:p>
            <a:endParaRPr lang="de-DE"/>
          </a:p>
        </p:txBody>
      </p:sp>
      <p:sp>
        <p:nvSpPr>
          <p:cNvPr id="5" name="Shape 3"/>
          <p:cNvSpPr/>
          <p:nvPr/>
        </p:nvSpPr>
        <p:spPr>
          <a:xfrm>
            <a:off x="731520" y="1188720"/>
            <a:ext cx="54864" cy="685800"/>
          </a:xfrm>
          <a:prstGeom prst="rect">
            <a:avLst/>
          </a:prstGeom>
          <a:solidFill>
            <a:srgbClr val="F59E0B"/>
          </a:solidFill>
          <a:ln/>
        </p:spPr>
        <p:txBody>
          <a:bodyPr/>
          <a:lstStyle/>
          <a:p>
            <a:endParaRPr lang="de-DE"/>
          </a:p>
        </p:txBody>
      </p:sp>
      <p:sp>
        <p:nvSpPr>
          <p:cNvPr id="6" name="Text 4"/>
          <p:cNvSpPr/>
          <p:nvPr/>
        </p:nvSpPr>
        <p:spPr>
          <a:xfrm>
            <a:off x="1051560" y="1234440"/>
            <a:ext cx="713232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MOM ermöglicht asynchrone, lose gekoppelte Kommunikation</a:t>
            </a:r>
            <a:endParaRPr lang="en-US" sz="1400" dirty="0"/>
          </a:p>
        </p:txBody>
      </p:sp>
      <p:sp>
        <p:nvSpPr>
          <p:cNvPr id="7" name="Text 5"/>
          <p:cNvSpPr/>
          <p:nvPr/>
        </p:nvSpPr>
        <p:spPr>
          <a:xfrm>
            <a:off x="1051560" y="1554480"/>
            <a:ext cx="7132320" cy="22860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Sender und Empfänger müssen nicht gleichzeitig online sein</a:t>
            </a:r>
            <a:endParaRPr lang="en-US" sz="1200" dirty="0"/>
          </a:p>
        </p:txBody>
      </p:sp>
      <p:sp>
        <p:nvSpPr>
          <p:cNvPr id="8" name="Shape 6"/>
          <p:cNvSpPr/>
          <p:nvPr/>
        </p:nvSpPr>
        <p:spPr>
          <a:xfrm>
            <a:off x="731520" y="2057400"/>
            <a:ext cx="7680960" cy="685800"/>
          </a:xfrm>
          <a:prstGeom prst="rect">
            <a:avLst/>
          </a:prstGeom>
          <a:solidFill>
            <a:srgbClr val="065A82"/>
          </a:solidFill>
          <a:ln/>
        </p:spPr>
        <p:txBody>
          <a:bodyPr/>
          <a:lstStyle/>
          <a:p>
            <a:endParaRPr lang="de-DE"/>
          </a:p>
        </p:txBody>
      </p:sp>
      <p:sp>
        <p:nvSpPr>
          <p:cNvPr id="9" name="Shape 7"/>
          <p:cNvSpPr/>
          <p:nvPr/>
        </p:nvSpPr>
        <p:spPr>
          <a:xfrm>
            <a:off x="731520" y="2057400"/>
            <a:ext cx="54864" cy="685800"/>
          </a:xfrm>
          <a:prstGeom prst="rect">
            <a:avLst/>
          </a:prstGeom>
          <a:solidFill>
            <a:srgbClr val="F59E0B"/>
          </a:solidFill>
          <a:ln/>
        </p:spPr>
        <p:txBody>
          <a:bodyPr/>
          <a:lstStyle/>
          <a:p>
            <a:endParaRPr lang="de-DE"/>
          </a:p>
        </p:txBody>
      </p:sp>
      <p:sp>
        <p:nvSpPr>
          <p:cNvPr id="10" name="Text 8"/>
          <p:cNvSpPr/>
          <p:nvPr/>
        </p:nvSpPr>
        <p:spPr>
          <a:xfrm>
            <a:off x="1051560" y="2103120"/>
            <a:ext cx="713232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Topic vs. Queue ist die fundamentale Entscheidung</a:t>
            </a:r>
            <a:endParaRPr lang="en-US" sz="1400" dirty="0"/>
          </a:p>
        </p:txBody>
      </p:sp>
      <p:sp>
        <p:nvSpPr>
          <p:cNvPr id="11" name="Text 9"/>
          <p:cNvSpPr/>
          <p:nvPr/>
        </p:nvSpPr>
        <p:spPr>
          <a:xfrm>
            <a:off x="1051560" y="2423160"/>
            <a:ext cx="7132320" cy="22860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Publish-Subscribe für 1:n, Point-to-Point für 1:1</a:t>
            </a:r>
            <a:endParaRPr lang="en-US" sz="1200" dirty="0"/>
          </a:p>
        </p:txBody>
      </p:sp>
      <p:sp>
        <p:nvSpPr>
          <p:cNvPr id="12" name="Shape 10"/>
          <p:cNvSpPr/>
          <p:nvPr/>
        </p:nvSpPr>
        <p:spPr>
          <a:xfrm>
            <a:off x="731520" y="2926080"/>
            <a:ext cx="7680960" cy="685800"/>
          </a:xfrm>
          <a:prstGeom prst="rect">
            <a:avLst/>
          </a:prstGeom>
          <a:solidFill>
            <a:srgbClr val="065A82"/>
          </a:solidFill>
          <a:ln/>
        </p:spPr>
        <p:txBody>
          <a:bodyPr/>
          <a:lstStyle/>
          <a:p>
            <a:endParaRPr lang="de-DE"/>
          </a:p>
        </p:txBody>
      </p:sp>
      <p:sp>
        <p:nvSpPr>
          <p:cNvPr id="13" name="Shape 11"/>
          <p:cNvSpPr/>
          <p:nvPr/>
        </p:nvSpPr>
        <p:spPr>
          <a:xfrm>
            <a:off x="731520" y="2926080"/>
            <a:ext cx="54864" cy="685800"/>
          </a:xfrm>
          <a:prstGeom prst="rect">
            <a:avLst/>
          </a:prstGeom>
          <a:solidFill>
            <a:srgbClr val="F59E0B"/>
          </a:solidFill>
          <a:ln/>
        </p:spPr>
        <p:txBody>
          <a:bodyPr/>
          <a:lstStyle/>
          <a:p>
            <a:endParaRPr lang="de-DE"/>
          </a:p>
        </p:txBody>
      </p:sp>
      <p:sp>
        <p:nvSpPr>
          <p:cNvPr id="14" name="Text 12"/>
          <p:cNvSpPr/>
          <p:nvPr/>
        </p:nvSpPr>
        <p:spPr>
          <a:xfrm>
            <a:off x="1051560" y="2971800"/>
            <a:ext cx="713232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Durable Subscriptions sichern Offline-Szenarien ab</a:t>
            </a:r>
            <a:endParaRPr lang="en-US" sz="1400" dirty="0"/>
          </a:p>
        </p:txBody>
      </p:sp>
      <p:sp>
        <p:nvSpPr>
          <p:cNvPr id="15" name="Text 13"/>
          <p:cNvSpPr/>
          <p:nvPr/>
        </p:nvSpPr>
        <p:spPr>
          <a:xfrm>
            <a:off x="1051560" y="3291840"/>
            <a:ext cx="7132320" cy="22860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Essentiell für mobile Mitarbeiter im Aussendienst</a:t>
            </a:r>
            <a:endParaRPr lang="en-US" sz="1200" dirty="0"/>
          </a:p>
        </p:txBody>
      </p:sp>
      <p:sp>
        <p:nvSpPr>
          <p:cNvPr id="16" name="Shape 14"/>
          <p:cNvSpPr/>
          <p:nvPr/>
        </p:nvSpPr>
        <p:spPr>
          <a:xfrm>
            <a:off x="731520" y="3794760"/>
            <a:ext cx="7680960" cy="685800"/>
          </a:xfrm>
          <a:prstGeom prst="rect">
            <a:avLst/>
          </a:prstGeom>
          <a:solidFill>
            <a:srgbClr val="065A82"/>
          </a:solidFill>
          <a:ln/>
        </p:spPr>
        <p:txBody>
          <a:bodyPr/>
          <a:lstStyle/>
          <a:p>
            <a:endParaRPr lang="de-DE"/>
          </a:p>
        </p:txBody>
      </p:sp>
      <p:sp>
        <p:nvSpPr>
          <p:cNvPr id="17" name="Shape 15"/>
          <p:cNvSpPr/>
          <p:nvPr/>
        </p:nvSpPr>
        <p:spPr>
          <a:xfrm>
            <a:off x="731520" y="3794760"/>
            <a:ext cx="54864" cy="685800"/>
          </a:xfrm>
          <a:prstGeom prst="rect">
            <a:avLst/>
          </a:prstGeom>
          <a:solidFill>
            <a:srgbClr val="F59E0B"/>
          </a:solidFill>
          <a:ln/>
        </p:spPr>
        <p:txBody>
          <a:bodyPr/>
          <a:lstStyle/>
          <a:p>
            <a:endParaRPr lang="de-DE"/>
          </a:p>
        </p:txBody>
      </p:sp>
      <p:sp>
        <p:nvSpPr>
          <p:cNvPr id="18" name="Text 16"/>
          <p:cNvSpPr/>
          <p:nvPr/>
        </p:nvSpPr>
        <p:spPr>
          <a:xfrm>
            <a:off x="1051560" y="3840480"/>
            <a:ext cx="713232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Spring Boot + ActiveMQ: Erstaunlich schlank</a:t>
            </a:r>
            <a:endParaRPr lang="en-US" sz="1400" dirty="0"/>
          </a:p>
        </p:txBody>
      </p:sp>
      <p:sp>
        <p:nvSpPr>
          <p:cNvPr id="19" name="Text 17"/>
          <p:cNvSpPr/>
          <p:nvPr/>
        </p:nvSpPr>
        <p:spPr>
          <a:xfrm>
            <a:off x="1051560" y="4160520"/>
            <a:ext cx="7132320" cy="22860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Der gesamte Messaging-Code passt in 2 Klassen mit ~70 Zeilen</a:t>
            </a:r>
            <a:endParaRPr lang="en-US" sz="1200" dirty="0"/>
          </a:p>
        </p:txBody>
      </p:sp>
      <p:sp>
        <p:nvSpPr>
          <p:cNvPr id="20" name="Shape 18"/>
          <p:cNvSpPr/>
          <p:nvPr/>
        </p:nvSpPr>
        <p:spPr>
          <a:xfrm>
            <a:off x="0" y="4960620"/>
            <a:ext cx="9144000" cy="182880"/>
          </a:xfrm>
          <a:prstGeom prst="rect">
            <a:avLst/>
          </a:prstGeom>
          <a:solidFill>
            <a:srgbClr val="065A82"/>
          </a:solidFill>
          <a:ln/>
        </p:spPr>
        <p:txBody>
          <a:bodyPr/>
          <a:lstStyle/>
          <a:p>
            <a:endParaRPr lang="de-D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C7293"/>
          </a:solidFill>
          <a:ln/>
        </p:spPr>
        <p:txBody>
          <a:bodyPr/>
          <a:lstStyle/>
          <a:p>
            <a:endParaRPr lang="de-DE"/>
          </a:p>
        </p:txBody>
      </p:sp>
      <p:sp>
        <p:nvSpPr>
          <p:cNvPr id="3" name="Text 1"/>
          <p:cNvSpPr/>
          <p:nvPr/>
        </p:nvSpPr>
        <p:spPr>
          <a:xfrm>
            <a:off x="731520" y="1371600"/>
            <a:ext cx="7680960" cy="109728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Fragen?</a:t>
            </a:r>
            <a:endParaRPr lang="en-US" sz="5200" dirty="0"/>
          </a:p>
        </p:txBody>
      </p:sp>
      <p:sp>
        <p:nvSpPr>
          <p:cNvPr id="4" name="Shape 2"/>
          <p:cNvSpPr/>
          <p:nvPr/>
        </p:nvSpPr>
        <p:spPr>
          <a:xfrm>
            <a:off x="3200400" y="2651760"/>
            <a:ext cx="2743200" cy="0"/>
          </a:xfrm>
          <a:prstGeom prst="line">
            <a:avLst/>
          </a:prstGeom>
          <a:noFill/>
          <a:ln w="25400">
            <a:solidFill>
              <a:srgbClr val="1C7293"/>
            </a:solidFill>
            <a:prstDash val="solid"/>
          </a:ln>
        </p:spPr>
        <p:txBody>
          <a:bodyPr/>
          <a:lstStyle/>
          <a:p>
            <a:endParaRPr lang="de-DE"/>
          </a:p>
        </p:txBody>
      </p:sp>
      <p:sp>
        <p:nvSpPr>
          <p:cNvPr id="5" name="Text 3"/>
          <p:cNvSpPr/>
          <p:nvPr/>
        </p:nvSpPr>
        <p:spPr>
          <a:xfrm>
            <a:off x="731520" y="2926080"/>
            <a:ext cx="7680960" cy="457200"/>
          </a:xfrm>
          <a:prstGeom prst="rect">
            <a:avLst/>
          </a:prstGeom>
          <a:noFill/>
          <a:ln/>
        </p:spPr>
        <p:txBody>
          <a:bodyPr wrap="square" rtlCol="0" anchor="ctr"/>
          <a:lstStyle/>
          <a:p>
            <a:pPr marL="0" indent="0" algn="ctr">
              <a:buNone/>
            </a:pPr>
            <a:r>
              <a:rPr lang="en-US" sz="1800" dirty="0">
                <a:solidFill>
                  <a:srgbClr val="CBD5E1"/>
                </a:solidFill>
                <a:latin typeface="Calibri" pitchFamily="34" charset="0"/>
                <a:ea typeface="Calibri" pitchFamily="34" charset="-122"/>
                <a:cs typeface="Calibri" pitchFamily="34" charset="-120"/>
              </a:rPr>
              <a:t>Roberto Panizza  &amp;  Loris Trifoglio</a:t>
            </a:r>
            <a:endParaRPr lang="en-US" sz="1800" dirty="0"/>
          </a:p>
        </p:txBody>
      </p:sp>
      <p:sp>
        <p:nvSpPr>
          <p:cNvPr id="6" name="Text 4"/>
          <p:cNvSpPr/>
          <p:nvPr/>
        </p:nvSpPr>
        <p:spPr>
          <a:xfrm>
            <a:off x="731520" y="3383280"/>
            <a:ext cx="7680960" cy="365760"/>
          </a:xfrm>
          <a:prstGeom prst="rect">
            <a:avLst/>
          </a:prstGeom>
          <a:noFill/>
          <a:ln/>
        </p:spPr>
        <p:txBody>
          <a:bodyPr wrap="square"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Gruppe 4  |  Software Architecture FS26  |  FHNW</a:t>
            </a:r>
            <a:endParaRPr lang="en-US" sz="1300" dirty="0"/>
          </a:p>
        </p:txBody>
      </p:sp>
      <p:sp>
        <p:nvSpPr>
          <p:cNvPr id="7" name="Shape 5"/>
          <p:cNvSpPr/>
          <p:nvPr/>
        </p:nvSpPr>
        <p:spPr>
          <a:xfrm>
            <a:off x="0" y="4960620"/>
            <a:ext cx="9144000" cy="182880"/>
          </a:xfrm>
          <a:prstGeom prst="rect">
            <a:avLst/>
          </a:prstGeom>
          <a:solidFill>
            <a:srgbClr val="065A82"/>
          </a:solidFill>
          <a:ln/>
        </p:spPr>
        <p:txBody>
          <a:bodyPr/>
          <a:lstStyle/>
          <a:p>
            <a:endParaRPr lang="de-D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d684224b-3301-40f1-9cd0-5d09186ee5bf" xsi:nil="true"/>
    <lcf76f155ced4ddcb4097134ff3c332f xmlns="933de62b-0236-4f90-9d7a-f3a8f167852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36EBDD9984D7064F8B5189A902F664AB" ma:contentTypeVersion="11" ma:contentTypeDescription="Ein neues Dokument erstellen." ma:contentTypeScope="" ma:versionID="0987777e0ff036207bbee4a10f11a65e">
  <xsd:schema xmlns:xsd="http://www.w3.org/2001/XMLSchema" xmlns:xs="http://www.w3.org/2001/XMLSchema" xmlns:p="http://schemas.microsoft.com/office/2006/metadata/properties" xmlns:ns2="933de62b-0236-4f90-9d7a-f3a8f1678523" xmlns:ns3="d684224b-3301-40f1-9cd0-5d09186ee5bf" targetNamespace="http://schemas.microsoft.com/office/2006/metadata/properties" ma:root="true" ma:fieldsID="06a71fb9dee566f88c4225dc1ffb5bc1" ns2:_="" ns3:_="">
    <xsd:import namespace="933de62b-0236-4f90-9d7a-f3a8f1678523"/>
    <xsd:import namespace="d684224b-3301-40f1-9cd0-5d09186ee5b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3de62b-0236-4f90-9d7a-f3a8f16785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ildmarkierungen" ma:readOnly="false" ma:fieldId="{5cf76f15-5ced-4ddc-b409-7134ff3c332f}" ma:taxonomyMulti="true" ma:sspId="7873907d-d049-4c15-acb6-7b8f2d6df67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684224b-3301-40f1-9cd0-5d09186ee5b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eaef7b4c-d9f4-4efc-97c0-ca0cb8d46a7d}" ma:internalName="TaxCatchAll" ma:showField="CatchAllData" ma:web="d684224b-3301-40f1-9cd0-5d09186ee5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BDABA3-01A8-4DEC-9162-F96A2E8147B6}">
  <ds:schemaRefs>
    <ds:schemaRef ds:uri="http://schemas.microsoft.com/sharepoint/v3/contenttype/forms"/>
  </ds:schemaRefs>
</ds:datastoreItem>
</file>

<file path=customXml/itemProps2.xml><?xml version="1.0" encoding="utf-8"?>
<ds:datastoreItem xmlns:ds="http://schemas.openxmlformats.org/officeDocument/2006/customXml" ds:itemID="{887570CB-D218-42A6-875A-CD9D75EA02C3}">
  <ds:schemaRefs>
    <ds:schemaRef ds:uri="http://www.w3.org/XML/1998/namespace"/>
    <ds:schemaRef ds:uri="http://schemas.microsoft.com/office/infopath/2007/PartnerControls"/>
    <ds:schemaRef ds:uri="http://schemas.microsoft.com/office/2006/documentManagement/types"/>
    <ds:schemaRef ds:uri="http://schemas.microsoft.com/office/2006/metadata/properties"/>
    <ds:schemaRef ds:uri="http://schemas.openxmlformats.org/package/2006/metadata/core-properties"/>
    <ds:schemaRef ds:uri="http://purl.org/dc/elements/1.1/"/>
    <ds:schemaRef ds:uri="http://purl.org/dc/terms/"/>
    <ds:schemaRef ds:uri="d684224b-3301-40f1-9cd0-5d09186ee5bf"/>
    <ds:schemaRef ds:uri="933de62b-0236-4f90-9d7a-f3a8f1678523"/>
    <ds:schemaRef ds:uri="http://purl.org/dc/dcmitype/"/>
  </ds:schemaRefs>
</ds:datastoreItem>
</file>

<file path=customXml/itemProps3.xml><?xml version="1.0" encoding="utf-8"?>
<ds:datastoreItem xmlns:ds="http://schemas.openxmlformats.org/officeDocument/2006/customXml" ds:itemID="{E9FD7D51-00B8-4728-9B29-ACC14CB689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3de62b-0236-4f90-9d7a-f3a8f1678523"/>
    <ds:schemaRef ds:uri="d684224b-3301-40f1-9cd0-5d09186ee5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2359</Words>
  <Application>Microsoft Macintosh PowerPoint</Application>
  <PresentationFormat>Bildschirmpräsentation (16:9)</PresentationFormat>
  <Paragraphs>296</Paragraphs>
  <Slides>14</Slides>
  <Notes>13</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14</vt:i4>
      </vt:variant>
    </vt:vector>
  </HeadingPairs>
  <TitlesOfParts>
    <vt:vector size="19" baseType="lpstr">
      <vt:lpstr>Arial</vt:lpstr>
      <vt:lpstr>Calibri</vt:lpstr>
      <vt:lpstr>Consolas</vt:lpstr>
      <vt:lpstr>Georgia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3 – Enterprise Messaging</dc:title>
  <dc:subject>PptxGenJS Presentation</dc:subject>
  <dc:creator>Roberto Panizza &amp; Loris Trifoglio</dc:creator>
  <cp:lastModifiedBy>Roberto Panizza</cp:lastModifiedBy>
  <cp:revision>7</cp:revision>
  <dcterms:created xsi:type="dcterms:W3CDTF">2026-04-14T11:39:50Z</dcterms:created>
  <dcterms:modified xsi:type="dcterms:W3CDTF">2026-04-14T15:12:20Z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0x01010036EBDD9984D7064F8B5189A902F664AB</vt:lpwstr>
  </property>
</Properties>
</file>